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  <p:sldId id="267" r:id="rId13"/>
    <p:sldId id="268" r:id="rId14"/>
    <p:sldId id="269" r:id="rId15"/>
    <p:sldId id="271" r:id="rId16"/>
    <p:sldId id="277" r:id="rId17"/>
    <p:sldId id="272" r:id="rId18"/>
    <p:sldId id="278" r:id="rId19"/>
    <p:sldId id="273" r:id="rId20"/>
    <p:sldId id="274" r:id="rId21"/>
    <p:sldId id="275" r:id="rId22"/>
    <p:sldId id="279" r:id="rId23"/>
    <p:sldId id="280" r:id="rId24"/>
    <p:sldId id="282" r:id="rId25"/>
    <p:sldId id="281" r:id="rId26"/>
    <p:sldId id="283" r:id="rId27"/>
    <p:sldId id="284" r:id="rId28"/>
    <p:sldId id="285" r:id="rId29"/>
    <p:sldId id="287" r:id="rId30"/>
    <p:sldId id="288" r:id="rId31"/>
    <p:sldId id="289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5C1D2B-2D68-421C-A647-DCD1655E2453}" v="26" dt="2026-04-16T19:12:26.2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yodeji Williams" userId="f7475ca69980513a" providerId="LiveId" clId="{057AD19E-259A-4751-B6D7-9236D9968328}"/>
    <pc:docChg chg="undo custSel addSld delSld modSld">
      <pc:chgData name="Ayodeji Williams" userId="f7475ca69980513a" providerId="LiveId" clId="{057AD19E-259A-4751-B6D7-9236D9968328}" dt="2026-04-16T20:55:34.330" v="1292" actId="27918"/>
      <pc:docMkLst>
        <pc:docMk/>
      </pc:docMkLst>
      <pc:sldChg chg="mod">
        <pc:chgData name="Ayodeji Williams" userId="f7475ca69980513a" providerId="LiveId" clId="{057AD19E-259A-4751-B6D7-9236D9968328}" dt="2026-04-16T20:55:34.330" v="1292" actId="27918"/>
        <pc:sldMkLst>
          <pc:docMk/>
          <pc:sldMk cId="1124015797" sldId="277"/>
        </pc:sldMkLst>
      </pc:sldChg>
      <pc:sldChg chg="addSp modSp mod">
        <pc:chgData name="Ayodeji Williams" userId="f7475ca69980513a" providerId="LiveId" clId="{057AD19E-259A-4751-B6D7-9236D9968328}" dt="2026-04-16T17:05:06.641" v="92" actId="20577"/>
        <pc:sldMkLst>
          <pc:docMk/>
          <pc:sldMk cId="3673577871" sldId="280"/>
        </pc:sldMkLst>
        <pc:spChg chg="mod">
          <ac:chgData name="Ayodeji Williams" userId="f7475ca69980513a" providerId="LiveId" clId="{057AD19E-259A-4751-B6D7-9236D9968328}" dt="2026-04-16T16:49:54.538" v="68" actId="20577"/>
          <ac:spMkLst>
            <pc:docMk/>
            <pc:sldMk cId="3673577871" sldId="280"/>
            <ac:spMk id="7" creationId="{8496D19E-3526-7C92-E673-1227CA957706}"/>
          </ac:spMkLst>
        </pc:spChg>
        <pc:spChg chg="mod">
          <ac:chgData name="Ayodeji Williams" userId="f7475ca69980513a" providerId="LiveId" clId="{057AD19E-259A-4751-B6D7-9236D9968328}" dt="2026-04-16T17:05:06.641" v="92" actId="20577"/>
          <ac:spMkLst>
            <pc:docMk/>
            <pc:sldMk cId="3673577871" sldId="280"/>
            <ac:spMk id="10" creationId="{818343B1-298B-5689-ACCB-1ACDD374917B}"/>
          </ac:spMkLst>
        </pc:spChg>
        <pc:spChg chg="mod">
          <ac:chgData name="Ayodeji Williams" userId="f7475ca69980513a" providerId="LiveId" clId="{057AD19E-259A-4751-B6D7-9236D9968328}" dt="2026-04-16T16:49:36.081" v="45" actId="20577"/>
          <ac:spMkLst>
            <pc:docMk/>
            <pc:sldMk cId="3673577871" sldId="280"/>
            <ac:spMk id="11" creationId="{3C942D6C-7DC9-E222-FA91-CA1CE1917628}"/>
          </ac:spMkLst>
        </pc:spChg>
        <pc:graphicFrameChg chg="mod modGraphic">
          <ac:chgData name="Ayodeji Williams" userId="f7475ca69980513a" providerId="LiveId" clId="{057AD19E-259A-4751-B6D7-9236D9968328}" dt="2026-04-16T16:43:56.619" v="4" actId="14100"/>
          <ac:graphicFrameMkLst>
            <pc:docMk/>
            <pc:sldMk cId="3673577871" sldId="280"/>
            <ac:graphicFrameMk id="6" creationId="{88DAED16-65A5-EF49-07C4-5F5E6404BD50}"/>
          </ac:graphicFrameMkLst>
        </pc:graphicFrameChg>
        <pc:graphicFrameChg chg="mod modGraphic">
          <ac:chgData name="Ayodeji Williams" userId="f7475ca69980513a" providerId="LiveId" clId="{057AD19E-259A-4751-B6D7-9236D9968328}" dt="2026-04-16T16:44:01.088" v="5" actId="14100"/>
          <ac:graphicFrameMkLst>
            <pc:docMk/>
            <pc:sldMk cId="3673577871" sldId="280"/>
            <ac:graphicFrameMk id="8" creationId="{1911DD5D-90F8-B062-A30D-F69CF3CA1125}"/>
          </ac:graphicFrameMkLst>
        </pc:graphicFrameChg>
        <pc:graphicFrameChg chg="mod modGraphic">
          <ac:chgData name="Ayodeji Williams" userId="f7475ca69980513a" providerId="LiveId" clId="{057AD19E-259A-4751-B6D7-9236D9968328}" dt="2026-04-16T16:44:06.197" v="6" actId="1076"/>
          <ac:graphicFrameMkLst>
            <pc:docMk/>
            <pc:sldMk cId="3673577871" sldId="280"/>
            <ac:graphicFrameMk id="9" creationId="{DC2D35A0-C07A-408F-D97A-47B98BDF20BE}"/>
          </ac:graphicFrameMkLst>
        </pc:graphicFrameChg>
        <pc:graphicFrameChg chg="add mod modGraphic">
          <ac:chgData name="Ayodeji Williams" userId="f7475ca69980513a" providerId="LiveId" clId="{057AD19E-259A-4751-B6D7-9236D9968328}" dt="2026-04-16T16:49:12.697" v="21" actId="1076"/>
          <ac:graphicFrameMkLst>
            <pc:docMk/>
            <pc:sldMk cId="3673577871" sldId="280"/>
            <ac:graphicFrameMk id="12" creationId="{F40C8B73-17CF-811F-A231-8E29F4F7CF8F}"/>
          </ac:graphicFrameMkLst>
        </pc:graphicFrameChg>
        <pc:graphicFrameChg chg="add mod modGraphic">
          <ac:chgData name="Ayodeji Williams" userId="f7475ca69980513a" providerId="LiveId" clId="{057AD19E-259A-4751-B6D7-9236D9968328}" dt="2026-04-16T16:49:17.898" v="22" actId="1076"/>
          <ac:graphicFrameMkLst>
            <pc:docMk/>
            <pc:sldMk cId="3673577871" sldId="280"/>
            <ac:graphicFrameMk id="13" creationId="{8773DA60-83EF-F85D-E1BC-0E61F3157571}"/>
          </ac:graphicFrameMkLst>
        </pc:graphicFrameChg>
        <pc:graphicFrameChg chg="add mod modGraphic">
          <ac:chgData name="Ayodeji Williams" userId="f7475ca69980513a" providerId="LiveId" clId="{057AD19E-259A-4751-B6D7-9236D9968328}" dt="2026-04-16T16:49:24.704" v="23" actId="1076"/>
          <ac:graphicFrameMkLst>
            <pc:docMk/>
            <pc:sldMk cId="3673577871" sldId="280"/>
            <ac:graphicFrameMk id="14" creationId="{AC134DCB-CFC6-2EA3-626C-342EB7949DB3}"/>
          </ac:graphicFrameMkLst>
        </pc:graphicFrameChg>
      </pc:sldChg>
      <pc:sldChg chg="addSp delSp modSp new mod">
        <pc:chgData name="Ayodeji Williams" userId="f7475ca69980513a" providerId="LiveId" clId="{057AD19E-259A-4751-B6D7-9236D9968328}" dt="2026-04-16T18:40:35.840" v="182" actId="1076"/>
        <pc:sldMkLst>
          <pc:docMk/>
          <pc:sldMk cId="160684878" sldId="281"/>
        </pc:sldMkLst>
        <pc:spChg chg="mod">
          <ac:chgData name="Ayodeji Williams" userId="f7475ca69980513a" providerId="LiveId" clId="{057AD19E-259A-4751-B6D7-9236D9968328}" dt="2026-04-16T18:31:49.429" v="114" actId="255"/>
          <ac:spMkLst>
            <pc:docMk/>
            <pc:sldMk cId="160684878" sldId="281"/>
            <ac:spMk id="2" creationId="{7FDE4B57-B5A0-F6E3-8293-A89DB85FFDAA}"/>
          </ac:spMkLst>
        </pc:spChg>
        <pc:spChg chg="del mod">
          <ac:chgData name="Ayodeji Williams" userId="f7475ca69980513a" providerId="LiveId" clId="{057AD19E-259A-4751-B6D7-9236D9968328}" dt="2026-04-16T18:32:13.694" v="116" actId="21"/>
          <ac:spMkLst>
            <pc:docMk/>
            <pc:sldMk cId="160684878" sldId="281"/>
            <ac:spMk id="3" creationId="{34BE7657-113A-2AAB-C482-1CC9A10A52BA}"/>
          </ac:spMkLst>
        </pc:spChg>
        <pc:spChg chg="add mod">
          <ac:chgData name="Ayodeji Williams" userId="f7475ca69980513a" providerId="LiveId" clId="{057AD19E-259A-4751-B6D7-9236D9968328}" dt="2026-04-16T18:38:03.097" v="149" actId="1076"/>
          <ac:spMkLst>
            <pc:docMk/>
            <pc:sldMk cId="160684878" sldId="281"/>
            <ac:spMk id="4" creationId="{3DA02C69-AB8C-4D9B-B74D-BE634E961F4E}"/>
          </ac:spMkLst>
        </pc:spChg>
        <pc:spChg chg="add mod">
          <ac:chgData name="Ayodeji Williams" userId="f7475ca69980513a" providerId="LiveId" clId="{057AD19E-259A-4751-B6D7-9236D9968328}" dt="2026-04-16T18:35:22.537" v="138" actId="14100"/>
          <ac:spMkLst>
            <pc:docMk/>
            <pc:sldMk cId="160684878" sldId="281"/>
            <ac:spMk id="7" creationId="{8C0B0C98-46A1-4624-8866-F27E65F356F7}"/>
          </ac:spMkLst>
        </pc:spChg>
        <pc:spChg chg="add mod">
          <ac:chgData name="Ayodeji Williams" userId="f7475ca69980513a" providerId="LiveId" clId="{057AD19E-259A-4751-B6D7-9236D9968328}" dt="2026-04-16T18:37:11.905" v="142" actId="1076"/>
          <ac:spMkLst>
            <pc:docMk/>
            <pc:sldMk cId="160684878" sldId="281"/>
            <ac:spMk id="9" creationId="{24C4561F-E916-C1D3-8040-78BA88428AF7}"/>
          </ac:spMkLst>
        </pc:spChg>
        <pc:spChg chg="add mod">
          <ac:chgData name="Ayodeji Williams" userId="f7475ca69980513a" providerId="LiveId" clId="{057AD19E-259A-4751-B6D7-9236D9968328}" dt="2026-04-16T18:37:38.913" v="147" actId="20577"/>
          <ac:spMkLst>
            <pc:docMk/>
            <pc:sldMk cId="160684878" sldId="281"/>
            <ac:spMk id="10" creationId="{1EF10653-E1CB-B5DC-7DDB-BC02E8051912}"/>
          </ac:spMkLst>
        </pc:spChg>
        <pc:spChg chg="add mod">
          <ac:chgData name="Ayodeji Williams" userId="f7475ca69980513a" providerId="LiveId" clId="{057AD19E-259A-4751-B6D7-9236D9968328}" dt="2026-04-16T18:40:35.840" v="182" actId="1076"/>
          <ac:spMkLst>
            <pc:docMk/>
            <pc:sldMk cId="160684878" sldId="281"/>
            <ac:spMk id="12" creationId="{3000CF70-6907-B847-E71B-21212FBA9B82}"/>
          </ac:spMkLst>
        </pc:spChg>
        <pc:graphicFrameChg chg="add mod modGraphic">
          <ac:chgData name="Ayodeji Williams" userId="f7475ca69980513a" providerId="LiveId" clId="{057AD19E-259A-4751-B6D7-9236D9968328}" dt="2026-04-16T18:35:09.597" v="136" actId="14100"/>
          <ac:graphicFrameMkLst>
            <pc:docMk/>
            <pc:sldMk cId="160684878" sldId="281"/>
            <ac:graphicFrameMk id="5" creationId="{7A5775F1-9168-15D8-242A-2AEB8AD13BD9}"/>
          </ac:graphicFrameMkLst>
        </pc:graphicFrameChg>
        <pc:graphicFrameChg chg="add mod modGraphic">
          <ac:chgData name="Ayodeji Williams" userId="f7475ca69980513a" providerId="LiveId" clId="{057AD19E-259A-4751-B6D7-9236D9968328}" dt="2026-04-16T18:35:18.143" v="137" actId="1076"/>
          <ac:graphicFrameMkLst>
            <pc:docMk/>
            <pc:sldMk cId="160684878" sldId="281"/>
            <ac:graphicFrameMk id="6" creationId="{6049D69B-590E-5191-5528-CAAD10A3A403}"/>
          </ac:graphicFrameMkLst>
        </pc:graphicFrameChg>
        <pc:graphicFrameChg chg="add mod">
          <ac:chgData name="Ayodeji Williams" userId="f7475ca69980513a" providerId="LiveId" clId="{057AD19E-259A-4751-B6D7-9236D9968328}" dt="2026-04-16T18:35:47.634" v="140" actId="1076"/>
          <ac:graphicFrameMkLst>
            <pc:docMk/>
            <pc:sldMk cId="160684878" sldId="281"/>
            <ac:graphicFrameMk id="8" creationId="{E0825364-3755-7089-C0BE-F81D618CEF93}"/>
          </ac:graphicFrameMkLst>
        </pc:graphicFrameChg>
        <pc:graphicFrameChg chg="add mod">
          <ac:chgData name="Ayodeji Williams" userId="f7475ca69980513a" providerId="LiveId" clId="{057AD19E-259A-4751-B6D7-9236D9968328}" dt="2026-04-16T18:40:21.579" v="180" actId="1076"/>
          <ac:graphicFrameMkLst>
            <pc:docMk/>
            <pc:sldMk cId="160684878" sldId="281"/>
            <ac:graphicFrameMk id="11" creationId="{D9BCE059-D18F-585C-D927-9F5283173F78}"/>
          </ac:graphicFrameMkLst>
        </pc:graphicFrameChg>
      </pc:sldChg>
      <pc:sldChg chg="addSp delSp modSp new mod">
        <pc:chgData name="Ayodeji Williams" userId="f7475ca69980513a" providerId="LiveId" clId="{057AD19E-259A-4751-B6D7-9236D9968328}" dt="2026-04-16T18:48:26.977" v="257"/>
        <pc:sldMkLst>
          <pc:docMk/>
          <pc:sldMk cId="1641318989" sldId="282"/>
        </pc:sldMkLst>
        <pc:spChg chg="mod">
          <ac:chgData name="Ayodeji Williams" userId="f7475ca69980513a" providerId="LiveId" clId="{057AD19E-259A-4751-B6D7-9236D9968328}" dt="2026-04-16T18:38:23.788" v="162" actId="20577"/>
          <ac:spMkLst>
            <pc:docMk/>
            <pc:sldMk cId="1641318989" sldId="282"/>
            <ac:spMk id="2" creationId="{96AB34FF-FF7E-19C0-DD1B-17181B31DCFF}"/>
          </ac:spMkLst>
        </pc:spChg>
        <pc:spChg chg="del mod">
          <ac:chgData name="Ayodeji Williams" userId="f7475ca69980513a" providerId="LiveId" clId="{057AD19E-259A-4751-B6D7-9236D9968328}" dt="2026-04-16T18:38:27.862" v="165" actId="478"/>
          <ac:spMkLst>
            <pc:docMk/>
            <pc:sldMk cId="1641318989" sldId="282"/>
            <ac:spMk id="3" creationId="{6091D4F1-CCF4-A5AD-163E-9F21AFCC432F}"/>
          </ac:spMkLst>
        </pc:spChg>
        <pc:spChg chg="add mod">
          <ac:chgData name="Ayodeji Williams" userId="f7475ca69980513a" providerId="LiveId" clId="{057AD19E-259A-4751-B6D7-9236D9968328}" dt="2026-04-16T18:39:54.009" v="176" actId="20577"/>
          <ac:spMkLst>
            <pc:docMk/>
            <pc:sldMk cId="1641318989" sldId="282"/>
            <ac:spMk id="5" creationId="{578FF77F-A7EA-0BF1-AF6E-72AEE4420369}"/>
          </ac:spMkLst>
        </pc:spChg>
        <pc:spChg chg="add">
          <ac:chgData name="Ayodeji Williams" userId="f7475ca69980513a" providerId="LiveId" clId="{057AD19E-259A-4751-B6D7-9236D9968328}" dt="2026-04-16T18:40:09.211" v="178" actId="11529"/>
          <ac:spMkLst>
            <pc:docMk/>
            <pc:sldMk cId="1641318989" sldId="282"/>
            <ac:spMk id="6" creationId="{756885BE-E6F7-593F-FC66-389089C70592}"/>
          </ac:spMkLst>
        </pc:spChg>
        <pc:graphicFrameChg chg="add mod modGraphic">
          <ac:chgData name="Ayodeji Williams" userId="f7475ca69980513a" providerId="LiveId" clId="{057AD19E-259A-4751-B6D7-9236D9968328}" dt="2026-04-16T18:48:26.977" v="257"/>
          <ac:graphicFrameMkLst>
            <pc:docMk/>
            <pc:sldMk cId="1641318989" sldId="282"/>
            <ac:graphicFrameMk id="4" creationId="{524333E0-7FB3-B6EC-6E3B-E1A4CC548286}"/>
          </ac:graphicFrameMkLst>
        </pc:graphicFrameChg>
      </pc:sldChg>
      <pc:sldChg chg="addSp modSp new mod setBg">
        <pc:chgData name="Ayodeji Williams" userId="f7475ca69980513a" providerId="LiveId" clId="{057AD19E-259A-4751-B6D7-9236D9968328}" dt="2026-04-16T18:54:15.491" v="696" actId="26606"/>
        <pc:sldMkLst>
          <pc:docMk/>
          <pc:sldMk cId="2460984162" sldId="283"/>
        </pc:sldMkLst>
        <pc:spChg chg="mod">
          <ac:chgData name="Ayodeji Williams" userId="f7475ca69980513a" providerId="LiveId" clId="{057AD19E-259A-4751-B6D7-9236D9968328}" dt="2026-04-16T18:54:15.491" v="696" actId="26606"/>
          <ac:spMkLst>
            <pc:docMk/>
            <pc:sldMk cId="2460984162" sldId="283"/>
            <ac:spMk id="2" creationId="{BFA64C12-B7E0-8D41-00F0-7F7F611BBE6F}"/>
          </ac:spMkLst>
        </pc:spChg>
        <pc:spChg chg="mod">
          <ac:chgData name="Ayodeji Williams" userId="f7475ca69980513a" providerId="LiveId" clId="{057AD19E-259A-4751-B6D7-9236D9968328}" dt="2026-04-16T18:54:15.491" v="696" actId="26606"/>
          <ac:spMkLst>
            <pc:docMk/>
            <pc:sldMk cId="2460984162" sldId="283"/>
            <ac:spMk id="3" creationId="{A4906567-586C-4BC0-983E-2351A506C202}"/>
          </ac:spMkLst>
        </pc:spChg>
        <pc:spChg chg="add">
          <ac:chgData name="Ayodeji Williams" userId="f7475ca69980513a" providerId="LiveId" clId="{057AD19E-259A-4751-B6D7-9236D9968328}" dt="2026-04-16T18:54:15.491" v="696" actId="26606"/>
          <ac:spMkLst>
            <pc:docMk/>
            <pc:sldMk cId="2460984162" sldId="283"/>
            <ac:spMk id="10" creationId="{E49D7415-2F11-44C2-B6AA-13A25B6814B9}"/>
          </ac:spMkLst>
        </pc:spChg>
        <pc:picChg chg="add">
          <ac:chgData name="Ayodeji Williams" userId="f7475ca69980513a" providerId="LiveId" clId="{057AD19E-259A-4751-B6D7-9236D9968328}" dt="2026-04-16T18:54:15.491" v="696" actId="26606"/>
          <ac:picMkLst>
            <pc:docMk/>
            <pc:sldMk cId="2460984162" sldId="283"/>
            <ac:picMk id="7" creationId="{2784F3A0-BC18-488C-CD68-250B6C999E61}"/>
          </ac:picMkLst>
        </pc:picChg>
        <pc:cxnChg chg="add">
          <ac:chgData name="Ayodeji Williams" userId="f7475ca69980513a" providerId="LiveId" clId="{057AD19E-259A-4751-B6D7-9236D9968328}" dt="2026-04-16T18:54:15.491" v="696" actId="26606"/>
          <ac:cxnSpMkLst>
            <pc:docMk/>
            <pc:sldMk cId="2460984162" sldId="283"/>
            <ac:cxnSpMk id="12" creationId="{8E813B4C-6731-0B72-5252-A79AB0E20B58}"/>
          </ac:cxnSpMkLst>
        </pc:cxnChg>
        <pc:cxnChg chg="add">
          <ac:chgData name="Ayodeji Williams" userId="f7475ca69980513a" providerId="LiveId" clId="{057AD19E-259A-4751-B6D7-9236D9968328}" dt="2026-04-16T18:54:15.491" v="696" actId="26606"/>
          <ac:cxnSpMkLst>
            <pc:docMk/>
            <pc:sldMk cId="2460984162" sldId="283"/>
            <ac:cxnSpMk id="14" creationId="{6E0E8146-6E65-2E6C-0C86-547E3C925406}"/>
          </ac:cxnSpMkLst>
        </pc:cxnChg>
      </pc:sldChg>
      <pc:sldChg chg="addSp delSp modSp new mod setBg">
        <pc:chgData name="Ayodeji Williams" userId="f7475ca69980513a" providerId="LiveId" clId="{057AD19E-259A-4751-B6D7-9236D9968328}" dt="2026-04-16T19:04:11.445" v="1212" actId="26606"/>
        <pc:sldMkLst>
          <pc:docMk/>
          <pc:sldMk cId="3267383969" sldId="284"/>
        </pc:sldMkLst>
        <pc:spChg chg="mod">
          <ac:chgData name="Ayodeji Williams" userId="f7475ca69980513a" providerId="LiveId" clId="{057AD19E-259A-4751-B6D7-9236D9968328}" dt="2026-04-16T19:04:11.445" v="1212" actId="26606"/>
          <ac:spMkLst>
            <pc:docMk/>
            <pc:sldMk cId="3267383969" sldId="284"/>
            <ac:spMk id="2" creationId="{A221E696-7C0C-610E-D524-26A717D46FCE}"/>
          </ac:spMkLst>
        </pc:spChg>
        <pc:spChg chg="mod">
          <ac:chgData name="Ayodeji Williams" userId="f7475ca69980513a" providerId="LiveId" clId="{057AD19E-259A-4751-B6D7-9236D9968328}" dt="2026-04-16T19:03:26.165" v="1197" actId="20577"/>
          <ac:spMkLst>
            <pc:docMk/>
            <pc:sldMk cId="3267383969" sldId="284"/>
            <ac:spMk id="3" creationId="{C34D1256-6AEB-7F3B-68DB-52949FE842BD}"/>
          </ac:spMkLst>
        </pc:spChg>
        <pc:spChg chg="add del">
          <ac:chgData name="Ayodeji Williams" userId="f7475ca69980513a" providerId="LiveId" clId="{057AD19E-259A-4751-B6D7-9236D9968328}" dt="2026-04-16T19:04:11.445" v="1212" actId="26606"/>
          <ac:spMkLst>
            <pc:docMk/>
            <pc:sldMk cId="3267383969" sldId="284"/>
            <ac:spMk id="10" creationId="{E49D7415-2F11-44C2-B6AA-13A25B6814B9}"/>
          </ac:spMkLst>
        </pc:spChg>
        <pc:spChg chg="add">
          <ac:chgData name="Ayodeji Williams" userId="f7475ca69980513a" providerId="LiveId" clId="{057AD19E-259A-4751-B6D7-9236D9968328}" dt="2026-04-16T19:04:11.445" v="1212" actId="26606"/>
          <ac:spMkLst>
            <pc:docMk/>
            <pc:sldMk cId="3267383969" sldId="284"/>
            <ac:spMk id="19" creationId="{E49D7415-2F11-44C2-B6AA-13A25B6814B9}"/>
          </ac:spMkLst>
        </pc:spChg>
        <pc:picChg chg="add">
          <ac:chgData name="Ayodeji Williams" userId="f7475ca69980513a" providerId="LiveId" clId="{057AD19E-259A-4751-B6D7-9236D9968328}" dt="2026-04-16T18:59:53.580" v="1063" actId="26606"/>
          <ac:picMkLst>
            <pc:docMk/>
            <pc:sldMk cId="3267383969" sldId="284"/>
            <ac:picMk id="7" creationId="{9AE4C81F-FDD6-05E0-3D35-620E37D75342}"/>
          </ac:picMkLst>
        </pc:picChg>
        <pc:cxnChg chg="add del">
          <ac:chgData name="Ayodeji Williams" userId="f7475ca69980513a" providerId="LiveId" clId="{057AD19E-259A-4751-B6D7-9236D9968328}" dt="2026-04-16T19:04:11.445" v="1212" actId="26606"/>
          <ac:cxnSpMkLst>
            <pc:docMk/>
            <pc:sldMk cId="3267383969" sldId="284"/>
            <ac:cxnSpMk id="12" creationId="{8E813B4C-6731-0B72-5252-A79AB0E20B58}"/>
          </ac:cxnSpMkLst>
        </pc:cxnChg>
        <pc:cxnChg chg="add del">
          <ac:chgData name="Ayodeji Williams" userId="f7475ca69980513a" providerId="LiveId" clId="{057AD19E-259A-4751-B6D7-9236D9968328}" dt="2026-04-16T19:04:11.445" v="1212" actId="26606"/>
          <ac:cxnSpMkLst>
            <pc:docMk/>
            <pc:sldMk cId="3267383969" sldId="284"/>
            <ac:cxnSpMk id="14" creationId="{6E0E8146-6E65-2E6C-0C86-547E3C925406}"/>
          </ac:cxnSpMkLst>
        </pc:cxnChg>
        <pc:cxnChg chg="add">
          <ac:chgData name="Ayodeji Williams" userId="f7475ca69980513a" providerId="LiveId" clId="{057AD19E-259A-4751-B6D7-9236D9968328}" dt="2026-04-16T19:04:11.445" v="1212" actId="26606"/>
          <ac:cxnSpMkLst>
            <pc:docMk/>
            <pc:sldMk cId="3267383969" sldId="284"/>
            <ac:cxnSpMk id="21" creationId="{8E813B4C-6731-0B72-5252-A79AB0E20B58}"/>
          </ac:cxnSpMkLst>
        </pc:cxnChg>
        <pc:cxnChg chg="add">
          <ac:chgData name="Ayodeji Williams" userId="f7475ca69980513a" providerId="LiveId" clId="{057AD19E-259A-4751-B6D7-9236D9968328}" dt="2026-04-16T19:04:11.445" v="1212" actId="26606"/>
          <ac:cxnSpMkLst>
            <pc:docMk/>
            <pc:sldMk cId="3267383969" sldId="284"/>
            <ac:cxnSpMk id="23" creationId="{6E0E8146-6E65-2E6C-0C86-547E3C925406}"/>
          </ac:cxnSpMkLst>
        </pc:cxnChg>
      </pc:sldChg>
      <pc:sldChg chg="modSp new mod">
        <pc:chgData name="Ayodeji Williams" userId="f7475ca69980513a" providerId="LiveId" clId="{057AD19E-259A-4751-B6D7-9236D9968328}" dt="2026-04-16T19:09:52.244" v="1225" actId="27636"/>
        <pc:sldMkLst>
          <pc:docMk/>
          <pc:sldMk cId="2796593074" sldId="285"/>
        </pc:sldMkLst>
        <pc:spChg chg="mod">
          <ac:chgData name="Ayodeji Williams" userId="f7475ca69980513a" providerId="LiveId" clId="{057AD19E-259A-4751-B6D7-9236D9968328}" dt="2026-04-16T19:04:44.028" v="1223" actId="20577"/>
          <ac:spMkLst>
            <pc:docMk/>
            <pc:sldMk cId="2796593074" sldId="285"/>
            <ac:spMk id="2" creationId="{1A533FC2-0CE6-287E-B709-EF6C90D8E378}"/>
          </ac:spMkLst>
        </pc:spChg>
        <pc:spChg chg="mod">
          <ac:chgData name="Ayodeji Williams" userId="f7475ca69980513a" providerId="LiveId" clId="{057AD19E-259A-4751-B6D7-9236D9968328}" dt="2026-04-16T19:09:52.244" v="1225" actId="27636"/>
          <ac:spMkLst>
            <pc:docMk/>
            <pc:sldMk cId="2796593074" sldId="285"/>
            <ac:spMk id="3" creationId="{85E5BE5F-269C-D4DC-3CCA-A360483A2AC1}"/>
          </ac:spMkLst>
        </pc:spChg>
      </pc:sldChg>
      <pc:sldChg chg="new del">
        <pc:chgData name="Ayodeji Williams" userId="f7475ca69980513a" providerId="LiveId" clId="{057AD19E-259A-4751-B6D7-9236D9968328}" dt="2026-04-16T19:10:13.210" v="1229" actId="47"/>
        <pc:sldMkLst>
          <pc:docMk/>
          <pc:sldMk cId="124712837" sldId="286"/>
        </pc:sldMkLst>
      </pc:sldChg>
      <pc:sldChg chg="delSp modSp add mod setBg delDesignElem">
        <pc:chgData name="Ayodeji Williams" userId="f7475ca69980513a" providerId="LiveId" clId="{057AD19E-259A-4751-B6D7-9236D9968328}" dt="2026-04-16T19:12:26.265" v="1291"/>
        <pc:sldMkLst>
          <pc:docMk/>
          <pc:sldMk cId="2306950517" sldId="287"/>
        </pc:sldMkLst>
        <pc:spChg chg="del">
          <ac:chgData name="Ayodeji Williams" userId="f7475ca69980513a" providerId="LiveId" clId="{057AD19E-259A-4751-B6D7-9236D9968328}" dt="2026-04-16T19:10:10.674" v="1228"/>
          <ac:spMkLst>
            <pc:docMk/>
            <pc:sldMk cId="2306950517" sldId="287"/>
            <ac:spMk id="10" creationId="{56E9B3E6-E277-4D68-BA48-9CB43FFBD6E2}"/>
          </ac:spMkLst>
        </pc:spChg>
        <pc:spChg chg="del">
          <ac:chgData name="Ayodeji Williams" userId="f7475ca69980513a" providerId="LiveId" clId="{057AD19E-259A-4751-B6D7-9236D9968328}" dt="2026-04-16T19:10:10.674" v="1228"/>
          <ac:spMkLst>
            <pc:docMk/>
            <pc:sldMk cId="2306950517" sldId="287"/>
            <ac:spMk id="17" creationId="{D5B0017B-2ECA-49AF-B397-DC140825DF8D}"/>
          </ac:spMkLst>
        </pc:spChg>
        <pc:grpChg chg="del">
          <ac:chgData name="Ayodeji Williams" userId="f7475ca69980513a" providerId="LiveId" clId="{057AD19E-259A-4751-B6D7-9236D9968328}" dt="2026-04-16T19:10:10.674" v="1228"/>
          <ac:grpSpMkLst>
            <pc:docMk/>
            <pc:sldMk cId="2306950517" sldId="287"/>
            <ac:grpSpMk id="12" creationId="{AE1C45F0-260A-458C-96ED-C1F6D2151219}"/>
          </ac:grpSpMkLst>
        </pc:grpChg>
        <pc:graphicFrameChg chg="mod modGraphic">
          <ac:chgData name="Ayodeji Williams" userId="f7475ca69980513a" providerId="LiveId" clId="{057AD19E-259A-4751-B6D7-9236D9968328}" dt="2026-04-16T19:12:26.265" v="1291"/>
          <ac:graphicFrameMkLst>
            <pc:docMk/>
            <pc:sldMk cId="2306950517" sldId="287"/>
            <ac:graphicFrameMk id="6" creationId="{5E6EE8A8-BBD2-A3F3-6D84-CBDDF50A30AE}"/>
          </ac:graphicFrameMkLst>
        </pc:graphicFrameChg>
        <pc:cxnChg chg="del">
          <ac:chgData name="Ayodeji Williams" userId="f7475ca69980513a" providerId="LiveId" clId="{057AD19E-259A-4751-B6D7-9236D9968328}" dt="2026-04-16T19:10:10.674" v="1228"/>
          <ac:cxnSpMkLst>
            <pc:docMk/>
            <pc:sldMk cId="2306950517" sldId="287"/>
            <ac:cxnSpMk id="19" creationId="{6CF1BAF6-AD41-4082-B212-8A1F9A2E8779}"/>
          </ac:cxnSpMkLst>
        </pc:cxnChg>
      </pc:sldChg>
      <pc:sldChg chg="addSp delSp modSp new mod setBg modClrScheme chgLayout">
        <pc:chgData name="Ayodeji Williams" userId="f7475ca69980513a" providerId="LiveId" clId="{057AD19E-259A-4751-B6D7-9236D9968328}" dt="2026-04-16T19:10:49.442" v="1243" actId="26606"/>
        <pc:sldMkLst>
          <pc:docMk/>
          <pc:sldMk cId="3718518954" sldId="288"/>
        </pc:sldMkLst>
        <pc:spChg chg="del mod ord">
          <ac:chgData name="Ayodeji Williams" userId="f7475ca69980513a" providerId="LiveId" clId="{057AD19E-259A-4751-B6D7-9236D9968328}" dt="2026-04-16T19:10:35.018" v="1231" actId="700"/>
          <ac:spMkLst>
            <pc:docMk/>
            <pc:sldMk cId="3718518954" sldId="288"/>
            <ac:spMk id="2" creationId="{7F8A39E2-7F0E-905D-D965-0AF7158B5296}"/>
          </ac:spMkLst>
        </pc:spChg>
        <pc:spChg chg="del">
          <ac:chgData name="Ayodeji Williams" userId="f7475ca69980513a" providerId="LiveId" clId="{057AD19E-259A-4751-B6D7-9236D9968328}" dt="2026-04-16T19:10:35.018" v="1231" actId="700"/>
          <ac:spMkLst>
            <pc:docMk/>
            <pc:sldMk cId="3718518954" sldId="288"/>
            <ac:spMk id="3" creationId="{7CD156CE-B99C-4845-C10C-52C6516437C6}"/>
          </ac:spMkLst>
        </pc:spChg>
        <pc:spChg chg="add mod ord">
          <ac:chgData name="Ayodeji Williams" userId="f7475ca69980513a" providerId="LiveId" clId="{057AD19E-259A-4751-B6D7-9236D9968328}" dt="2026-04-16T19:10:49.442" v="1243" actId="26606"/>
          <ac:spMkLst>
            <pc:docMk/>
            <pc:sldMk cId="3718518954" sldId="288"/>
            <ac:spMk id="4" creationId="{B0CD6417-C40E-E596-858F-938C8D92D988}"/>
          </ac:spMkLst>
        </pc:spChg>
        <pc:spChg chg="add">
          <ac:chgData name="Ayodeji Williams" userId="f7475ca69980513a" providerId="LiveId" clId="{057AD19E-259A-4751-B6D7-9236D9968328}" dt="2026-04-16T19:10:49.442" v="1243" actId="26606"/>
          <ac:spMkLst>
            <pc:docMk/>
            <pc:sldMk cId="3718518954" sldId="288"/>
            <ac:spMk id="13" creationId="{DEF92653-5D6D-47E6-8744-0DAF76E049C4}"/>
          </ac:spMkLst>
        </pc:spChg>
        <pc:cxnChg chg="add">
          <ac:chgData name="Ayodeji Williams" userId="f7475ca69980513a" providerId="LiveId" clId="{057AD19E-259A-4751-B6D7-9236D9968328}" dt="2026-04-16T19:10:49.442" v="1243" actId="26606"/>
          <ac:cxnSpMkLst>
            <pc:docMk/>
            <pc:sldMk cId="3718518954" sldId="288"/>
            <ac:cxnSpMk id="9" creationId="{F64F9B95-9045-48D2-B9F3-2927E98F54AA}"/>
          </ac:cxnSpMkLst>
        </pc:cxnChg>
        <pc:cxnChg chg="add">
          <ac:chgData name="Ayodeji Williams" userId="f7475ca69980513a" providerId="LiveId" clId="{057AD19E-259A-4751-B6D7-9236D9968328}" dt="2026-04-16T19:10:49.442" v="1243" actId="26606"/>
          <ac:cxnSpMkLst>
            <pc:docMk/>
            <pc:sldMk cId="3718518954" sldId="288"/>
            <ac:cxnSpMk id="11" creationId="{085AA86F-6A4D-4BCB-A045-D992CDC2959B}"/>
          </ac:cxnSpMkLst>
        </pc:cxnChg>
        <pc:cxnChg chg="add">
          <ac:chgData name="Ayodeji Williams" userId="f7475ca69980513a" providerId="LiveId" clId="{057AD19E-259A-4751-B6D7-9236D9968328}" dt="2026-04-16T19:10:49.442" v="1243" actId="26606"/>
          <ac:cxnSpMkLst>
            <pc:docMk/>
            <pc:sldMk cId="3718518954" sldId="288"/>
            <ac:cxnSpMk id="15" creationId="{9CA98CE3-81A7-4FFE-A047-9AA65998D877}"/>
          </ac:cxnSpMkLst>
        </pc:cxnChg>
      </pc:sldChg>
      <pc:sldChg chg="addSp modSp new mod setBg addAnim">
        <pc:chgData name="Ayodeji Williams" userId="f7475ca69980513a" providerId="LiveId" clId="{057AD19E-259A-4751-B6D7-9236D9968328}" dt="2026-04-16T19:11:34.413" v="1256"/>
        <pc:sldMkLst>
          <pc:docMk/>
          <pc:sldMk cId="387985666" sldId="289"/>
        </pc:sldMkLst>
        <pc:spChg chg="mod">
          <ac:chgData name="Ayodeji Williams" userId="f7475ca69980513a" providerId="LiveId" clId="{057AD19E-259A-4751-B6D7-9236D9968328}" dt="2026-04-16T19:11:34.413" v="1255" actId="26606"/>
          <ac:spMkLst>
            <pc:docMk/>
            <pc:sldMk cId="387985666" sldId="289"/>
            <ac:spMk id="2" creationId="{6733F43A-EC6A-2DC9-2409-AF27FCE4D8BA}"/>
          </ac:spMkLst>
        </pc:spChg>
        <pc:spChg chg="add">
          <ac:chgData name="Ayodeji Williams" userId="f7475ca69980513a" providerId="LiveId" clId="{057AD19E-259A-4751-B6D7-9236D9968328}" dt="2026-04-16T19:11:34.413" v="1255" actId="26606"/>
          <ac:spMkLst>
            <pc:docMk/>
            <pc:sldMk cId="387985666" sldId="289"/>
            <ac:spMk id="11" creationId="{DEF92653-5D6D-47E6-8744-0DAF76E049C4}"/>
          </ac:spMkLst>
        </pc:spChg>
        <pc:cxnChg chg="add">
          <ac:chgData name="Ayodeji Williams" userId="f7475ca69980513a" providerId="LiveId" clId="{057AD19E-259A-4751-B6D7-9236D9968328}" dt="2026-04-16T19:11:34.413" v="1255" actId="26606"/>
          <ac:cxnSpMkLst>
            <pc:docMk/>
            <pc:sldMk cId="387985666" sldId="289"/>
            <ac:cxnSpMk id="7" creationId="{F64F9B95-9045-48D2-B9F3-2927E98F54AA}"/>
          </ac:cxnSpMkLst>
        </pc:cxnChg>
        <pc:cxnChg chg="add">
          <ac:chgData name="Ayodeji Williams" userId="f7475ca69980513a" providerId="LiveId" clId="{057AD19E-259A-4751-B6D7-9236D9968328}" dt="2026-04-16T19:11:34.413" v="1255" actId="26606"/>
          <ac:cxnSpMkLst>
            <pc:docMk/>
            <pc:sldMk cId="387985666" sldId="289"/>
            <ac:cxnSpMk id="9" creationId="{085AA86F-6A4D-4BCB-A045-D992CDC2959B}"/>
          </ac:cxnSpMkLst>
        </pc:cxnChg>
        <pc:cxnChg chg="add">
          <ac:chgData name="Ayodeji Williams" userId="f7475ca69980513a" providerId="LiveId" clId="{057AD19E-259A-4751-B6D7-9236D9968328}" dt="2026-04-16T19:11:34.413" v="1255" actId="26606"/>
          <ac:cxnSpMkLst>
            <pc:docMk/>
            <pc:sldMk cId="387985666" sldId="289"/>
            <ac:cxnSpMk id="13" creationId="{9CA98CE3-81A7-4FFE-A047-9AA65998D877}"/>
          </ac:cxnSpMkLst>
        </pc:cxn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f7475ca69980513a/Documents/Corn%5eJsoybeans%5eJ%5e0whea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f7475ca69980513a/Documents/Corn%5eJsoybeans%5eJ%5e0wheat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f7475ca69980513a/Documents/Corn%5eJsoybeans%5eJ%5e0wheat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f7475ca69980513a/Documents/Corn%5eJsoybeans%5eJ%5e0wheat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f7475ca69980513a/Documents/Corn%5eJsoybeans%5eJ%5e0wheat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f7475ca69980513a/Documents/Corn%5eJsoybeans%5eJ%5e0wheat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[Corn^Jsoybeans^J^0wheat.xlsx]Sheet2!PivotTable2</c:name>
    <c:fmtId val="14"/>
  </c:pivotSource>
  <c:chart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Sheet2!$B$3:$B$4</c:f>
              <c:strCache>
                <c:ptCount val="1"/>
                <c:pt idx="0">
                  <c:v>CORN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Sheet2!$A$5:$A$11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strCache>
            </c:strRef>
          </c:cat>
          <c:val>
            <c:numRef>
              <c:f>Sheet2!$B$5:$B$11</c:f>
              <c:numCache>
                <c:formatCode>General</c:formatCode>
                <c:ptCount val="6"/>
                <c:pt idx="0">
                  <c:v>177</c:v>
                </c:pt>
                <c:pt idx="1">
                  <c:v>204</c:v>
                </c:pt>
                <c:pt idx="2">
                  <c:v>200</c:v>
                </c:pt>
                <c:pt idx="3">
                  <c:v>201</c:v>
                </c:pt>
                <c:pt idx="4">
                  <c:v>211</c:v>
                </c:pt>
                <c:pt idx="5">
                  <c:v>210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979-4E17-827C-EBE071FAC711}"/>
            </c:ext>
          </c:extLst>
        </c:ser>
        <c:ser>
          <c:idx val="1"/>
          <c:order val="1"/>
          <c:tx>
            <c:strRef>
              <c:f>Sheet2!$C$3:$C$4</c:f>
              <c:strCache>
                <c:ptCount val="1"/>
                <c:pt idx="0">
                  <c:v>SOYBEANS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Sheet2!$A$5:$A$11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strCache>
            </c:strRef>
          </c:cat>
          <c:val>
            <c:numRef>
              <c:f>Sheet2!$C$5:$C$11</c:f>
              <c:numCache>
                <c:formatCode>General</c:formatCode>
                <c:ptCount val="6"/>
                <c:pt idx="0">
                  <c:v>54</c:v>
                </c:pt>
                <c:pt idx="1">
                  <c:v>63</c:v>
                </c:pt>
                <c:pt idx="2">
                  <c:v>58.5</c:v>
                </c:pt>
                <c:pt idx="3">
                  <c:v>58</c:v>
                </c:pt>
                <c:pt idx="4">
                  <c:v>60</c:v>
                </c:pt>
                <c:pt idx="5">
                  <c:v>63.5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979-4E17-827C-EBE071FAC7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97427071"/>
        <c:axId val="255363663"/>
      </c:lineChart>
      <c:catAx>
        <c:axId val="974270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55363663"/>
        <c:crosses val="autoZero"/>
        <c:auto val="1"/>
        <c:lblAlgn val="ctr"/>
        <c:lblOffset val="100"/>
        <c:noMultiLvlLbl val="0"/>
      </c:catAx>
      <c:valAx>
        <c:axId val="2553636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742707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Wheat</a:t>
            </a:r>
            <a:r>
              <a:rPr lang="en-US" baseline="0"/>
              <a:t> Production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Sheet2!$A$16:$A$21</c:f>
              <c:numCache>
                <c:formatCode>General</c:formatCode>
                <c:ptCount val="6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</c:numCache>
            </c:numRef>
          </c:cat>
          <c:val>
            <c:numRef>
              <c:f>Sheet2!$B$16:$B$21</c:f>
              <c:numCache>
                <c:formatCode>General</c:formatCode>
                <c:ptCount val="6"/>
                <c:pt idx="0">
                  <c:v>19</c:v>
                </c:pt>
                <c:pt idx="1">
                  <c:v>49</c:v>
                </c:pt>
                <c:pt idx="2">
                  <c:v>52</c:v>
                </c:pt>
                <c:pt idx="3">
                  <c:v>63</c:v>
                </c:pt>
                <c:pt idx="4">
                  <c:v>68</c:v>
                </c:pt>
                <c:pt idx="5">
                  <c:v>58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76B-4BF9-9D46-23A7C03536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62591279"/>
        <c:axId val="462592239"/>
      </c:lineChart>
      <c:catAx>
        <c:axId val="4625912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62592239"/>
        <c:crosses val="autoZero"/>
        <c:auto val="1"/>
        <c:lblAlgn val="ctr"/>
        <c:lblOffset val="100"/>
        <c:noMultiLvlLbl val="0"/>
      </c:catAx>
      <c:valAx>
        <c:axId val="46259223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625912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Precipitation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Sheet2!$T$6:$T$11</c:f>
              <c:numCache>
                <c:formatCode>General</c:formatCod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numCache>
            </c:numRef>
          </c:cat>
          <c:val>
            <c:numRef>
              <c:f>Sheet2!$U$6:$U$11</c:f>
              <c:numCache>
                <c:formatCode>General</c:formatCode>
                <c:ptCount val="6"/>
                <c:pt idx="0">
                  <c:v>28.92</c:v>
                </c:pt>
                <c:pt idx="1">
                  <c:v>31.06</c:v>
                </c:pt>
                <c:pt idx="2">
                  <c:v>27.25</c:v>
                </c:pt>
                <c:pt idx="3">
                  <c:v>26.82</c:v>
                </c:pt>
                <c:pt idx="4">
                  <c:v>36.950000000000003</c:v>
                </c:pt>
                <c:pt idx="5">
                  <c:v>33.590000000000003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AF8-4F6D-842E-0F05E40ABF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01648031"/>
        <c:axId val="1001651391"/>
      </c:lineChart>
      <c:catAx>
        <c:axId val="10016480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01651391"/>
        <c:crosses val="autoZero"/>
        <c:auto val="1"/>
        <c:lblAlgn val="ctr"/>
        <c:lblOffset val="100"/>
        <c:noMultiLvlLbl val="0"/>
      </c:catAx>
      <c:valAx>
        <c:axId val="10016513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0164803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Temperature</a:t>
            </a:r>
            <a:r>
              <a:rPr lang="en-US" baseline="0"/>
              <a:t> (Degree)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Sheet2!$T$23:$T$28</c:f>
              <c:numCache>
                <c:formatCode>General</c:formatCod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numCache>
            </c:numRef>
          </c:cat>
          <c:val>
            <c:numRef>
              <c:f>Sheet2!$U$23:$U$28</c:f>
              <c:numCache>
                <c:formatCode>General</c:formatCode>
                <c:ptCount val="6"/>
                <c:pt idx="0">
                  <c:v>49.2</c:v>
                </c:pt>
                <c:pt idx="1">
                  <c:v>50</c:v>
                </c:pt>
                <c:pt idx="2">
                  <c:v>47.5</c:v>
                </c:pt>
                <c:pt idx="3">
                  <c:v>50.6</c:v>
                </c:pt>
                <c:pt idx="4">
                  <c:v>51.5</c:v>
                </c:pt>
                <c:pt idx="5">
                  <c:v>49.7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48F-4FF5-A42A-FFB6E60E9D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68112991"/>
        <c:axId val="1068113471"/>
      </c:lineChart>
      <c:catAx>
        <c:axId val="10681129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68113471"/>
        <c:crosses val="autoZero"/>
        <c:auto val="1"/>
        <c:lblAlgn val="ctr"/>
        <c:lblOffset val="100"/>
        <c:noMultiLvlLbl val="0"/>
      </c:catAx>
      <c:valAx>
        <c:axId val="106811347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6811299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Nitrogen</a:t>
            </a:r>
            <a:r>
              <a:rPr lang="en-US" baseline="0"/>
              <a:t> (Fartilizer) Use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Sheet2!$M$17</c:f>
              <c:strCache>
                <c:ptCount val="1"/>
                <c:pt idx="0">
                  <c:v>Corn(ISU)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Sheet2!$L$18:$L$22</c:f>
              <c:numCache>
                <c:formatCode>General</c:formatCod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numCache>
            </c:numRef>
          </c:cat>
          <c:val>
            <c:numRef>
              <c:f>Sheet2!$M$18:$M$22</c:f>
              <c:numCache>
                <c:formatCode>General</c:formatCode>
                <c:ptCount val="5"/>
                <c:pt idx="0">
                  <c:v>131</c:v>
                </c:pt>
                <c:pt idx="1">
                  <c:v>146</c:v>
                </c:pt>
                <c:pt idx="2">
                  <c:v>124</c:v>
                </c:pt>
                <c:pt idx="3">
                  <c:v>134</c:v>
                </c:pt>
                <c:pt idx="4">
                  <c:v>140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4DB-4463-9323-2FD01FBCF539}"/>
            </c:ext>
          </c:extLst>
        </c:ser>
        <c:ser>
          <c:idx val="1"/>
          <c:order val="1"/>
          <c:tx>
            <c:strRef>
              <c:f>Sheet2!$N$17</c:f>
              <c:strCache>
                <c:ptCount val="1"/>
                <c:pt idx="0">
                  <c:v>Soybeans(Does not use)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Sheet2!$L$18:$L$22</c:f>
              <c:numCache>
                <c:formatCode>General</c:formatCod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numCache>
            </c:numRef>
          </c:cat>
          <c:val>
            <c:numRef>
              <c:f>Sheet2!$N$18:$N$22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4DB-4463-9323-2FD01FBCF5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14182703"/>
        <c:axId val="314185103"/>
      </c:lineChart>
      <c:catAx>
        <c:axId val="314182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14185103"/>
        <c:crosses val="autoZero"/>
        <c:auto val="1"/>
        <c:lblAlgn val="ctr"/>
        <c:lblOffset val="100"/>
        <c:noMultiLvlLbl val="0"/>
      </c:catAx>
      <c:valAx>
        <c:axId val="3141851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141827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Multi-Crop</a:t>
            </a:r>
            <a:r>
              <a:rPr lang="en-US" baseline="0"/>
              <a:t> Yeld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Sheet2!$B$60</c:f>
              <c:strCache>
                <c:ptCount val="1"/>
                <c:pt idx="0">
                  <c:v>Corn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Sheet2!$A$61:$A$66</c:f>
              <c:numCache>
                <c:formatCode>General</c:formatCod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numCache>
            </c:numRef>
          </c:xVal>
          <c:yVal>
            <c:numRef>
              <c:f>Sheet2!$B$61:$B$66</c:f>
              <c:numCache>
                <c:formatCode>General</c:formatCode>
                <c:ptCount val="6"/>
                <c:pt idx="0">
                  <c:v>177</c:v>
                </c:pt>
                <c:pt idx="1">
                  <c:v>204</c:v>
                </c:pt>
                <c:pt idx="2">
                  <c:v>200</c:v>
                </c:pt>
                <c:pt idx="3">
                  <c:v>201</c:v>
                </c:pt>
                <c:pt idx="4">
                  <c:v>211</c:v>
                </c:pt>
                <c:pt idx="5">
                  <c:v>210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1665-496B-B450-FC4E66B0E1D5}"/>
            </c:ext>
          </c:extLst>
        </c:ser>
        <c:ser>
          <c:idx val="1"/>
          <c:order val="1"/>
          <c:tx>
            <c:strRef>
              <c:f>Sheet2!$C$60</c:f>
              <c:strCache>
                <c:ptCount val="1"/>
                <c:pt idx="0">
                  <c:v>Soybeans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Sheet2!$A$61:$A$66</c:f>
              <c:numCache>
                <c:formatCode>General</c:formatCod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numCache>
            </c:numRef>
          </c:xVal>
          <c:yVal>
            <c:numRef>
              <c:f>Sheet2!$C$61:$C$66</c:f>
              <c:numCache>
                <c:formatCode>General</c:formatCode>
                <c:ptCount val="6"/>
                <c:pt idx="0">
                  <c:v>54</c:v>
                </c:pt>
                <c:pt idx="1">
                  <c:v>63</c:v>
                </c:pt>
                <c:pt idx="2">
                  <c:v>58.5</c:v>
                </c:pt>
                <c:pt idx="3">
                  <c:v>58</c:v>
                </c:pt>
                <c:pt idx="4">
                  <c:v>60</c:v>
                </c:pt>
                <c:pt idx="5">
                  <c:v>63.5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1665-496B-B450-FC4E66B0E1D5}"/>
            </c:ext>
          </c:extLst>
        </c:ser>
        <c:ser>
          <c:idx val="2"/>
          <c:order val="2"/>
          <c:tx>
            <c:strRef>
              <c:f>Sheet2!$D$60</c:f>
              <c:strCache>
                <c:ptCount val="1"/>
                <c:pt idx="0">
                  <c:v>Wheat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numRef>
              <c:f>Sheet2!$A$61:$A$66</c:f>
              <c:numCache>
                <c:formatCode>General</c:formatCod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numCache>
            </c:numRef>
          </c:xVal>
          <c:yVal>
            <c:numRef>
              <c:f>Sheet2!$D$61:$D$66</c:f>
              <c:numCache>
                <c:formatCode>General</c:formatCode>
                <c:ptCount val="6"/>
                <c:pt idx="0">
                  <c:v>19</c:v>
                </c:pt>
                <c:pt idx="1">
                  <c:v>49</c:v>
                </c:pt>
                <c:pt idx="2">
                  <c:v>52</c:v>
                </c:pt>
                <c:pt idx="3">
                  <c:v>63</c:v>
                </c:pt>
                <c:pt idx="4">
                  <c:v>68</c:v>
                </c:pt>
                <c:pt idx="5">
                  <c:v>58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1665-496B-B450-FC4E66B0E1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78285168"/>
        <c:axId val="478287088"/>
      </c:scatterChart>
      <c:valAx>
        <c:axId val="47828516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8287088"/>
        <c:crosses val="autoZero"/>
        <c:crossBetween val="midCat"/>
      </c:valAx>
      <c:valAx>
        <c:axId val="4782870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8285168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54DDA06-9E19-45C0-9C23-E417ECB51B81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7E0DA652-4307-4D07-808B-6D2BF95AF7E0}">
      <dgm:prSet/>
      <dgm:spPr/>
      <dgm:t>
        <a:bodyPr/>
        <a:lstStyle/>
        <a:p>
          <a:pPr>
            <a:defRPr cap="all"/>
          </a:pPr>
          <a:r>
            <a:rPr lang="en-US" dirty="0"/>
            <a:t>X</a:t>
          </a:r>
          <a:r>
            <a:rPr lang="en-US" baseline="-25000" dirty="0"/>
            <a:t>1</a:t>
          </a:r>
          <a:r>
            <a:rPr lang="en-US" dirty="0"/>
            <a:t>(Precipitation): Total Rainfall Critical Window (April-August)</a:t>
          </a:r>
        </a:p>
      </dgm:t>
    </dgm:pt>
    <dgm:pt modelId="{D8B1CDE4-C9C7-4345-88C8-ED418AF39D68}" type="parTrans" cxnId="{188FCC88-55CA-4A8F-A32C-1B02441C306B}">
      <dgm:prSet/>
      <dgm:spPr/>
      <dgm:t>
        <a:bodyPr/>
        <a:lstStyle/>
        <a:p>
          <a:endParaRPr lang="en-US"/>
        </a:p>
      </dgm:t>
    </dgm:pt>
    <dgm:pt modelId="{A4E30DB9-A4F8-4C66-9981-82C6C45D5811}" type="sibTrans" cxnId="{188FCC88-55CA-4A8F-A32C-1B02441C306B}">
      <dgm:prSet/>
      <dgm:spPr/>
      <dgm:t>
        <a:bodyPr/>
        <a:lstStyle/>
        <a:p>
          <a:endParaRPr lang="en-US"/>
        </a:p>
      </dgm:t>
    </dgm:pt>
    <dgm:pt modelId="{34F291A0-903B-4368-BB36-1BDE1BFDCFA2}">
      <dgm:prSet/>
      <dgm:spPr/>
      <dgm:t>
        <a:bodyPr/>
        <a:lstStyle/>
        <a:p>
          <a:pPr>
            <a:defRPr cap="all"/>
          </a:pPr>
          <a:r>
            <a:rPr lang="en-US"/>
            <a:t>X</a:t>
          </a:r>
          <a:r>
            <a:rPr lang="en-US" baseline="-25000"/>
            <a:t>2</a:t>
          </a:r>
          <a:r>
            <a:rPr lang="en-US"/>
            <a:t>(Temperature): Average daytime temperature of “Growing Degree Days”</a:t>
          </a:r>
        </a:p>
      </dgm:t>
    </dgm:pt>
    <dgm:pt modelId="{9CA6A671-F574-4907-9631-B6F6FA8B6A93}" type="parTrans" cxnId="{3425586C-6BFB-4533-B19C-3A9A886958FD}">
      <dgm:prSet/>
      <dgm:spPr/>
      <dgm:t>
        <a:bodyPr/>
        <a:lstStyle/>
        <a:p>
          <a:endParaRPr lang="en-US"/>
        </a:p>
      </dgm:t>
    </dgm:pt>
    <dgm:pt modelId="{1374C27E-7AA0-4F92-9322-DE18C10E02CA}" type="sibTrans" cxnId="{3425586C-6BFB-4533-B19C-3A9A886958FD}">
      <dgm:prSet/>
      <dgm:spPr/>
      <dgm:t>
        <a:bodyPr/>
        <a:lstStyle/>
        <a:p>
          <a:endParaRPr lang="en-US"/>
        </a:p>
      </dgm:t>
    </dgm:pt>
    <dgm:pt modelId="{FA77F69C-EC3C-4C52-A9C2-9F61F6222C34}">
      <dgm:prSet/>
      <dgm:spPr/>
      <dgm:t>
        <a:bodyPr/>
        <a:lstStyle/>
        <a:p>
          <a:pPr>
            <a:defRPr cap="all"/>
          </a:pPr>
          <a:r>
            <a:rPr lang="en-US"/>
            <a:t>X</a:t>
          </a:r>
          <a:r>
            <a:rPr lang="en-US" baseline="-25000"/>
            <a:t>3</a:t>
          </a:r>
          <a:r>
            <a:rPr lang="en-US"/>
            <a:t>(Nitrogen Fertilizer): Total pounds applied per acare in Iowa</a:t>
          </a:r>
        </a:p>
      </dgm:t>
    </dgm:pt>
    <dgm:pt modelId="{837E8328-F221-420A-B04D-88F448EDD8BA}" type="parTrans" cxnId="{C71D0469-E6FA-4221-BAEB-A333D81C18C3}">
      <dgm:prSet/>
      <dgm:spPr/>
      <dgm:t>
        <a:bodyPr/>
        <a:lstStyle/>
        <a:p>
          <a:endParaRPr lang="en-US"/>
        </a:p>
      </dgm:t>
    </dgm:pt>
    <dgm:pt modelId="{21732EBB-CE11-45E1-B6D4-F0FAE3DB0707}" type="sibTrans" cxnId="{C71D0469-E6FA-4221-BAEB-A333D81C18C3}">
      <dgm:prSet/>
      <dgm:spPr/>
      <dgm:t>
        <a:bodyPr/>
        <a:lstStyle/>
        <a:p>
          <a:endParaRPr lang="en-US"/>
        </a:p>
      </dgm:t>
    </dgm:pt>
    <dgm:pt modelId="{D20223F3-D2A0-4010-BEE1-B5423E8602A6}" type="pres">
      <dgm:prSet presAssocID="{E54DDA06-9E19-45C0-9C23-E417ECB51B81}" presName="root" presStyleCnt="0">
        <dgm:presLayoutVars>
          <dgm:dir/>
          <dgm:resizeHandles val="exact"/>
        </dgm:presLayoutVars>
      </dgm:prSet>
      <dgm:spPr/>
    </dgm:pt>
    <dgm:pt modelId="{5AAE0491-E2E3-48CE-9C1C-10F88DC9982A}" type="pres">
      <dgm:prSet presAssocID="{7E0DA652-4307-4D07-808B-6D2BF95AF7E0}" presName="compNode" presStyleCnt="0"/>
      <dgm:spPr/>
    </dgm:pt>
    <dgm:pt modelId="{38BA8DD2-834E-4762-B905-8DD65D6F6385}" type="pres">
      <dgm:prSet presAssocID="{7E0DA652-4307-4D07-808B-6D2BF95AF7E0}" presName="iconBgRect" presStyleLbl="bgShp" presStyleIdx="0" presStyleCnt="3"/>
      <dgm:spPr/>
    </dgm:pt>
    <dgm:pt modelId="{29077E77-04EC-4DB4-A568-AB59B92ADE83}" type="pres">
      <dgm:prSet presAssocID="{7E0DA652-4307-4D07-808B-6D2BF95AF7E0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in"/>
        </a:ext>
      </dgm:extLst>
    </dgm:pt>
    <dgm:pt modelId="{2808B200-8E1C-40AF-A49F-ED9F71D7383F}" type="pres">
      <dgm:prSet presAssocID="{7E0DA652-4307-4D07-808B-6D2BF95AF7E0}" presName="spaceRect" presStyleCnt="0"/>
      <dgm:spPr/>
    </dgm:pt>
    <dgm:pt modelId="{31A9A443-B5F8-4FDE-8293-BD187FF1ED44}" type="pres">
      <dgm:prSet presAssocID="{7E0DA652-4307-4D07-808B-6D2BF95AF7E0}" presName="textRect" presStyleLbl="revTx" presStyleIdx="0" presStyleCnt="3">
        <dgm:presLayoutVars>
          <dgm:chMax val="1"/>
          <dgm:chPref val="1"/>
        </dgm:presLayoutVars>
      </dgm:prSet>
      <dgm:spPr/>
    </dgm:pt>
    <dgm:pt modelId="{B7B8D2AF-9522-4359-9BA5-A3BAB26AFA97}" type="pres">
      <dgm:prSet presAssocID="{A4E30DB9-A4F8-4C66-9981-82C6C45D5811}" presName="sibTrans" presStyleCnt="0"/>
      <dgm:spPr/>
    </dgm:pt>
    <dgm:pt modelId="{D972847C-A22E-469C-AA73-1CC6CADB8978}" type="pres">
      <dgm:prSet presAssocID="{34F291A0-903B-4368-BB36-1BDE1BFDCFA2}" presName="compNode" presStyleCnt="0"/>
      <dgm:spPr/>
    </dgm:pt>
    <dgm:pt modelId="{FA06E941-50BD-496E-B4CD-73C59B3FD26E}" type="pres">
      <dgm:prSet presAssocID="{34F291A0-903B-4368-BB36-1BDE1BFDCFA2}" presName="iconBgRect" presStyleLbl="bgShp" presStyleIdx="1" presStyleCnt="3"/>
      <dgm:spPr/>
    </dgm:pt>
    <dgm:pt modelId="{B00C40C9-9F54-4390-9C57-C41630EC26D8}" type="pres">
      <dgm:prSet presAssocID="{34F291A0-903B-4368-BB36-1BDE1BFDCFA2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w Temperature"/>
        </a:ext>
      </dgm:extLst>
    </dgm:pt>
    <dgm:pt modelId="{CD739422-48D8-4DF0-B35B-87777DA827A5}" type="pres">
      <dgm:prSet presAssocID="{34F291A0-903B-4368-BB36-1BDE1BFDCFA2}" presName="spaceRect" presStyleCnt="0"/>
      <dgm:spPr/>
    </dgm:pt>
    <dgm:pt modelId="{4CCA840D-C2D6-437A-9771-BD3AE0BE4362}" type="pres">
      <dgm:prSet presAssocID="{34F291A0-903B-4368-BB36-1BDE1BFDCFA2}" presName="textRect" presStyleLbl="revTx" presStyleIdx="1" presStyleCnt="3">
        <dgm:presLayoutVars>
          <dgm:chMax val="1"/>
          <dgm:chPref val="1"/>
        </dgm:presLayoutVars>
      </dgm:prSet>
      <dgm:spPr/>
    </dgm:pt>
    <dgm:pt modelId="{665092AB-1ED1-4A65-8839-6423F6EBB9F5}" type="pres">
      <dgm:prSet presAssocID="{1374C27E-7AA0-4F92-9322-DE18C10E02CA}" presName="sibTrans" presStyleCnt="0"/>
      <dgm:spPr/>
    </dgm:pt>
    <dgm:pt modelId="{4A8F62D5-C868-48C3-B873-2BDDC5781302}" type="pres">
      <dgm:prSet presAssocID="{FA77F69C-EC3C-4C52-A9C2-9F61F6222C34}" presName="compNode" presStyleCnt="0"/>
      <dgm:spPr/>
    </dgm:pt>
    <dgm:pt modelId="{66BD559A-4B70-46CD-A8A9-E2987335B68F}" type="pres">
      <dgm:prSet presAssocID="{FA77F69C-EC3C-4C52-A9C2-9F61F6222C34}" presName="iconBgRect" presStyleLbl="bgShp" presStyleIdx="2" presStyleCnt="3"/>
      <dgm:spPr/>
    </dgm:pt>
    <dgm:pt modelId="{E5461FEB-A11B-4170-A6E6-F6B47682E9A2}" type="pres">
      <dgm:prSet presAssocID="{FA77F69C-EC3C-4C52-A9C2-9F61F6222C34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rm scene"/>
        </a:ext>
      </dgm:extLst>
    </dgm:pt>
    <dgm:pt modelId="{11E503FC-C443-4DEF-92B4-F7661542A27E}" type="pres">
      <dgm:prSet presAssocID="{FA77F69C-EC3C-4C52-A9C2-9F61F6222C34}" presName="spaceRect" presStyleCnt="0"/>
      <dgm:spPr/>
    </dgm:pt>
    <dgm:pt modelId="{CFB7EE0E-43B4-41C2-9086-7E18CBA73E4C}" type="pres">
      <dgm:prSet presAssocID="{FA77F69C-EC3C-4C52-A9C2-9F61F6222C34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C71D0469-E6FA-4221-BAEB-A333D81C18C3}" srcId="{E54DDA06-9E19-45C0-9C23-E417ECB51B81}" destId="{FA77F69C-EC3C-4C52-A9C2-9F61F6222C34}" srcOrd="2" destOrd="0" parTransId="{837E8328-F221-420A-B04D-88F448EDD8BA}" sibTransId="{21732EBB-CE11-45E1-B6D4-F0FAE3DB0707}"/>
    <dgm:cxn modelId="{61EC5E49-B3C7-4C77-AFBD-29EAE03E9C31}" type="presOf" srcId="{E54DDA06-9E19-45C0-9C23-E417ECB51B81}" destId="{D20223F3-D2A0-4010-BEE1-B5423E8602A6}" srcOrd="0" destOrd="0" presId="urn:microsoft.com/office/officeart/2018/5/layout/IconCircleLabelList"/>
    <dgm:cxn modelId="{3425586C-6BFB-4533-B19C-3A9A886958FD}" srcId="{E54DDA06-9E19-45C0-9C23-E417ECB51B81}" destId="{34F291A0-903B-4368-BB36-1BDE1BFDCFA2}" srcOrd="1" destOrd="0" parTransId="{9CA6A671-F574-4907-9631-B6F6FA8B6A93}" sibTransId="{1374C27E-7AA0-4F92-9322-DE18C10E02CA}"/>
    <dgm:cxn modelId="{4C133D7E-255E-4C6C-BC33-E0303F0905F0}" type="presOf" srcId="{34F291A0-903B-4368-BB36-1BDE1BFDCFA2}" destId="{4CCA840D-C2D6-437A-9771-BD3AE0BE4362}" srcOrd="0" destOrd="0" presId="urn:microsoft.com/office/officeart/2018/5/layout/IconCircleLabelList"/>
    <dgm:cxn modelId="{188FCC88-55CA-4A8F-A32C-1B02441C306B}" srcId="{E54DDA06-9E19-45C0-9C23-E417ECB51B81}" destId="{7E0DA652-4307-4D07-808B-6D2BF95AF7E0}" srcOrd="0" destOrd="0" parTransId="{D8B1CDE4-C9C7-4345-88C8-ED418AF39D68}" sibTransId="{A4E30DB9-A4F8-4C66-9981-82C6C45D5811}"/>
    <dgm:cxn modelId="{4CBEE8B1-E71A-4C9F-9083-F55794C8BEC9}" type="presOf" srcId="{7E0DA652-4307-4D07-808B-6D2BF95AF7E0}" destId="{31A9A443-B5F8-4FDE-8293-BD187FF1ED44}" srcOrd="0" destOrd="0" presId="urn:microsoft.com/office/officeart/2018/5/layout/IconCircleLabelList"/>
    <dgm:cxn modelId="{A9BC46F4-8C54-477E-9234-DD660DA03660}" type="presOf" srcId="{FA77F69C-EC3C-4C52-A9C2-9F61F6222C34}" destId="{CFB7EE0E-43B4-41C2-9086-7E18CBA73E4C}" srcOrd="0" destOrd="0" presId="urn:microsoft.com/office/officeart/2018/5/layout/IconCircleLabelList"/>
    <dgm:cxn modelId="{3777416A-8531-4FB5-AE16-6D9E67317505}" type="presParOf" srcId="{D20223F3-D2A0-4010-BEE1-B5423E8602A6}" destId="{5AAE0491-E2E3-48CE-9C1C-10F88DC9982A}" srcOrd="0" destOrd="0" presId="urn:microsoft.com/office/officeart/2018/5/layout/IconCircleLabelList"/>
    <dgm:cxn modelId="{6A5144A6-E991-4961-8AAD-752F637941F9}" type="presParOf" srcId="{5AAE0491-E2E3-48CE-9C1C-10F88DC9982A}" destId="{38BA8DD2-834E-4762-B905-8DD65D6F6385}" srcOrd="0" destOrd="0" presId="urn:microsoft.com/office/officeart/2018/5/layout/IconCircleLabelList"/>
    <dgm:cxn modelId="{49EDEAA2-FBC8-4FB1-8467-487DB7C8A410}" type="presParOf" srcId="{5AAE0491-E2E3-48CE-9C1C-10F88DC9982A}" destId="{29077E77-04EC-4DB4-A568-AB59B92ADE83}" srcOrd="1" destOrd="0" presId="urn:microsoft.com/office/officeart/2018/5/layout/IconCircleLabelList"/>
    <dgm:cxn modelId="{FC265D99-05FC-4A8C-9287-F6075DB261FB}" type="presParOf" srcId="{5AAE0491-E2E3-48CE-9C1C-10F88DC9982A}" destId="{2808B200-8E1C-40AF-A49F-ED9F71D7383F}" srcOrd="2" destOrd="0" presId="urn:microsoft.com/office/officeart/2018/5/layout/IconCircleLabelList"/>
    <dgm:cxn modelId="{6B91FBE0-E3AF-4CD0-83DE-2BE45337A3D6}" type="presParOf" srcId="{5AAE0491-E2E3-48CE-9C1C-10F88DC9982A}" destId="{31A9A443-B5F8-4FDE-8293-BD187FF1ED44}" srcOrd="3" destOrd="0" presId="urn:microsoft.com/office/officeart/2018/5/layout/IconCircleLabelList"/>
    <dgm:cxn modelId="{FF00C227-3A69-4E1E-BA67-7EFB14C9F4BE}" type="presParOf" srcId="{D20223F3-D2A0-4010-BEE1-B5423E8602A6}" destId="{B7B8D2AF-9522-4359-9BA5-A3BAB26AFA97}" srcOrd="1" destOrd="0" presId="urn:microsoft.com/office/officeart/2018/5/layout/IconCircleLabelList"/>
    <dgm:cxn modelId="{7BE54231-9C12-452E-9ABF-286CDF1A8FE2}" type="presParOf" srcId="{D20223F3-D2A0-4010-BEE1-B5423E8602A6}" destId="{D972847C-A22E-469C-AA73-1CC6CADB8978}" srcOrd="2" destOrd="0" presId="urn:microsoft.com/office/officeart/2018/5/layout/IconCircleLabelList"/>
    <dgm:cxn modelId="{F804A0D4-5D0D-47E3-AACF-C0A011F2221D}" type="presParOf" srcId="{D972847C-A22E-469C-AA73-1CC6CADB8978}" destId="{FA06E941-50BD-496E-B4CD-73C59B3FD26E}" srcOrd="0" destOrd="0" presId="urn:microsoft.com/office/officeart/2018/5/layout/IconCircleLabelList"/>
    <dgm:cxn modelId="{0C428489-7D5D-479F-928C-287864DA7E1C}" type="presParOf" srcId="{D972847C-A22E-469C-AA73-1CC6CADB8978}" destId="{B00C40C9-9F54-4390-9C57-C41630EC26D8}" srcOrd="1" destOrd="0" presId="urn:microsoft.com/office/officeart/2018/5/layout/IconCircleLabelList"/>
    <dgm:cxn modelId="{86F4AE11-10EA-44A3-A23E-8DCA33239E07}" type="presParOf" srcId="{D972847C-A22E-469C-AA73-1CC6CADB8978}" destId="{CD739422-48D8-4DF0-B35B-87777DA827A5}" srcOrd="2" destOrd="0" presId="urn:microsoft.com/office/officeart/2018/5/layout/IconCircleLabelList"/>
    <dgm:cxn modelId="{45C31D21-3E0D-4FE0-95E1-221A1B7E06CE}" type="presParOf" srcId="{D972847C-A22E-469C-AA73-1CC6CADB8978}" destId="{4CCA840D-C2D6-437A-9771-BD3AE0BE4362}" srcOrd="3" destOrd="0" presId="urn:microsoft.com/office/officeart/2018/5/layout/IconCircleLabelList"/>
    <dgm:cxn modelId="{CF1001B0-A936-4A4F-BB7D-289D913AA158}" type="presParOf" srcId="{D20223F3-D2A0-4010-BEE1-B5423E8602A6}" destId="{665092AB-1ED1-4A65-8839-6423F6EBB9F5}" srcOrd="3" destOrd="0" presId="urn:microsoft.com/office/officeart/2018/5/layout/IconCircleLabelList"/>
    <dgm:cxn modelId="{BA9E8DCA-AE48-49C1-94B1-1D409B9DF795}" type="presParOf" srcId="{D20223F3-D2A0-4010-BEE1-B5423E8602A6}" destId="{4A8F62D5-C868-48C3-B873-2BDDC5781302}" srcOrd="4" destOrd="0" presId="urn:microsoft.com/office/officeart/2018/5/layout/IconCircleLabelList"/>
    <dgm:cxn modelId="{7AE209CA-182D-4A49-8CE6-2696F2CE8764}" type="presParOf" srcId="{4A8F62D5-C868-48C3-B873-2BDDC5781302}" destId="{66BD559A-4B70-46CD-A8A9-E2987335B68F}" srcOrd="0" destOrd="0" presId="urn:microsoft.com/office/officeart/2018/5/layout/IconCircleLabelList"/>
    <dgm:cxn modelId="{38737DC1-EAB2-4A5B-B37C-B6877752A1D8}" type="presParOf" srcId="{4A8F62D5-C868-48C3-B873-2BDDC5781302}" destId="{E5461FEB-A11B-4170-A6E6-F6B47682E9A2}" srcOrd="1" destOrd="0" presId="urn:microsoft.com/office/officeart/2018/5/layout/IconCircleLabelList"/>
    <dgm:cxn modelId="{20C919D8-BFEE-4F2D-B957-237F3AA4FA82}" type="presParOf" srcId="{4A8F62D5-C868-48C3-B873-2BDDC5781302}" destId="{11E503FC-C443-4DEF-92B4-F7661542A27E}" srcOrd="2" destOrd="0" presId="urn:microsoft.com/office/officeart/2018/5/layout/IconCircleLabelList"/>
    <dgm:cxn modelId="{ECBA7119-204D-4607-A786-9DC703926A81}" type="presParOf" srcId="{4A8F62D5-C868-48C3-B873-2BDDC5781302}" destId="{CFB7EE0E-43B4-41C2-9086-7E18CBA73E4C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21A4C2B-9A71-47B0-8E0D-2DAD646AAB6B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D23B448-7040-47DB-9B65-8218B6F95EEE}">
      <dgm:prSet/>
      <dgm:spPr/>
      <dgm:t>
        <a:bodyPr/>
        <a:lstStyle/>
        <a:p>
          <a:r>
            <a:rPr lang="en-US" dirty="0"/>
            <a:t>Center for Transformational Student Experiences (CTSE)</a:t>
          </a:r>
        </a:p>
      </dgm:t>
    </dgm:pt>
    <dgm:pt modelId="{D7BEF921-7DA1-49BE-9683-586A0789E69B}" type="parTrans" cxnId="{A3F2D9F5-E338-4822-9F4A-86626D5F9F61}">
      <dgm:prSet/>
      <dgm:spPr/>
      <dgm:t>
        <a:bodyPr/>
        <a:lstStyle/>
        <a:p>
          <a:endParaRPr lang="en-US"/>
        </a:p>
      </dgm:t>
    </dgm:pt>
    <dgm:pt modelId="{FA405FA8-16BA-4500-BE69-504DEC111689}" type="sibTrans" cxnId="{A3F2D9F5-E338-4822-9F4A-86626D5F9F61}">
      <dgm:prSet/>
      <dgm:spPr/>
      <dgm:t>
        <a:bodyPr/>
        <a:lstStyle/>
        <a:p>
          <a:endParaRPr lang="en-US"/>
        </a:p>
      </dgm:t>
    </dgm:pt>
    <dgm:pt modelId="{6FD7C4E1-9409-4454-BAD2-27883655F7B4}">
      <dgm:prSet custT="1"/>
      <dgm:spPr/>
      <dgm:t>
        <a:bodyPr/>
        <a:lstStyle/>
        <a:p>
          <a:r>
            <a:rPr lang="en-US" sz="2200" dirty="0"/>
            <a:t>Dr. Zephyrinus Okonkwo, </a:t>
          </a:r>
          <a:r>
            <a:rPr lang="en-US" sz="1900" dirty="0"/>
            <a:t>Department of Mathematics, Computer Science and Physics</a:t>
          </a:r>
        </a:p>
      </dgm:t>
    </dgm:pt>
    <dgm:pt modelId="{1FE60BE6-2048-493B-8436-5E00CA042C71}" type="parTrans" cxnId="{D948DCBA-1F43-4643-B6EE-951956EAAFF7}">
      <dgm:prSet/>
      <dgm:spPr/>
      <dgm:t>
        <a:bodyPr/>
        <a:lstStyle/>
        <a:p>
          <a:endParaRPr lang="en-US"/>
        </a:p>
      </dgm:t>
    </dgm:pt>
    <dgm:pt modelId="{6E4FA93A-376F-4FF4-9DA1-416E9A247BB3}" type="sibTrans" cxnId="{D948DCBA-1F43-4643-B6EE-951956EAAFF7}">
      <dgm:prSet/>
      <dgm:spPr/>
      <dgm:t>
        <a:bodyPr/>
        <a:lstStyle/>
        <a:p>
          <a:endParaRPr lang="en-US"/>
        </a:p>
      </dgm:t>
    </dgm:pt>
    <dgm:pt modelId="{4061D75F-0E34-4A98-8051-48B6499A2256}" type="pres">
      <dgm:prSet presAssocID="{521A4C2B-9A71-47B0-8E0D-2DAD646AAB6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23CD4CC-99A1-41B3-9C4D-0DD1C345D093}" type="pres">
      <dgm:prSet presAssocID="{4D23B448-7040-47DB-9B65-8218B6F95EEE}" presName="hierRoot1" presStyleCnt="0"/>
      <dgm:spPr/>
    </dgm:pt>
    <dgm:pt modelId="{A88546E7-5BF7-41A7-8BFF-B9FDD30F33CA}" type="pres">
      <dgm:prSet presAssocID="{4D23B448-7040-47DB-9B65-8218B6F95EEE}" presName="composite" presStyleCnt="0"/>
      <dgm:spPr/>
    </dgm:pt>
    <dgm:pt modelId="{34C1FB1B-37B3-472B-809C-6F1958F74D0D}" type="pres">
      <dgm:prSet presAssocID="{4D23B448-7040-47DB-9B65-8218B6F95EEE}" presName="background" presStyleLbl="node0" presStyleIdx="0" presStyleCnt="2"/>
      <dgm:spPr/>
    </dgm:pt>
    <dgm:pt modelId="{ADBDCB7A-F34C-436D-AA95-ABE1E232D37B}" type="pres">
      <dgm:prSet presAssocID="{4D23B448-7040-47DB-9B65-8218B6F95EEE}" presName="text" presStyleLbl="fgAcc0" presStyleIdx="0" presStyleCnt="2">
        <dgm:presLayoutVars>
          <dgm:chPref val="3"/>
        </dgm:presLayoutVars>
      </dgm:prSet>
      <dgm:spPr/>
    </dgm:pt>
    <dgm:pt modelId="{528447EB-0F32-4CB0-BE10-CDE5D1D4AACD}" type="pres">
      <dgm:prSet presAssocID="{4D23B448-7040-47DB-9B65-8218B6F95EEE}" presName="hierChild2" presStyleCnt="0"/>
      <dgm:spPr/>
    </dgm:pt>
    <dgm:pt modelId="{D3E27C49-26F0-41E1-8391-4D2BCA71BBB8}" type="pres">
      <dgm:prSet presAssocID="{6FD7C4E1-9409-4454-BAD2-27883655F7B4}" presName="hierRoot1" presStyleCnt="0"/>
      <dgm:spPr/>
    </dgm:pt>
    <dgm:pt modelId="{23FC522B-65CD-4D4B-A4F3-BB5B0602B843}" type="pres">
      <dgm:prSet presAssocID="{6FD7C4E1-9409-4454-BAD2-27883655F7B4}" presName="composite" presStyleCnt="0"/>
      <dgm:spPr/>
    </dgm:pt>
    <dgm:pt modelId="{00050B15-8528-49D6-81F6-B3622E898CBB}" type="pres">
      <dgm:prSet presAssocID="{6FD7C4E1-9409-4454-BAD2-27883655F7B4}" presName="background" presStyleLbl="node0" presStyleIdx="1" presStyleCnt="2"/>
      <dgm:spPr/>
    </dgm:pt>
    <dgm:pt modelId="{0EAE0271-AF9B-4855-B062-0EFE43C1EC9B}" type="pres">
      <dgm:prSet presAssocID="{6FD7C4E1-9409-4454-BAD2-27883655F7B4}" presName="text" presStyleLbl="fgAcc0" presStyleIdx="1" presStyleCnt="2">
        <dgm:presLayoutVars>
          <dgm:chPref val="3"/>
        </dgm:presLayoutVars>
      </dgm:prSet>
      <dgm:spPr/>
    </dgm:pt>
    <dgm:pt modelId="{7D9B5819-45B3-45E1-8F41-EAC4925D551E}" type="pres">
      <dgm:prSet presAssocID="{6FD7C4E1-9409-4454-BAD2-27883655F7B4}" presName="hierChild2" presStyleCnt="0"/>
      <dgm:spPr/>
    </dgm:pt>
  </dgm:ptLst>
  <dgm:cxnLst>
    <dgm:cxn modelId="{C3B50C33-AF8F-49FB-A577-9E105169E0A2}" type="presOf" srcId="{6FD7C4E1-9409-4454-BAD2-27883655F7B4}" destId="{0EAE0271-AF9B-4855-B062-0EFE43C1EC9B}" srcOrd="0" destOrd="0" presId="urn:microsoft.com/office/officeart/2005/8/layout/hierarchy1"/>
    <dgm:cxn modelId="{CDCB0C3D-198D-4B59-9BA2-CC0C668A80EF}" type="presOf" srcId="{521A4C2B-9A71-47B0-8E0D-2DAD646AAB6B}" destId="{4061D75F-0E34-4A98-8051-48B6499A2256}" srcOrd="0" destOrd="0" presId="urn:microsoft.com/office/officeart/2005/8/layout/hierarchy1"/>
    <dgm:cxn modelId="{E5E744B1-2391-4F03-A733-E31C2DD38CF2}" type="presOf" srcId="{4D23B448-7040-47DB-9B65-8218B6F95EEE}" destId="{ADBDCB7A-F34C-436D-AA95-ABE1E232D37B}" srcOrd="0" destOrd="0" presId="urn:microsoft.com/office/officeart/2005/8/layout/hierarchy1"/>
    <dgm:cxn modelId="{D948DCBA-1F43-4643-B6EE-951956EAAFF7}" srcId="{521A4C2B-9A71-47B0-8E0D-2DAD646AAB6B}" destId="{6FD7C4E1-9409-4454-BAD2-27883655F7B4}" srcOrd="1" destOrd="0" parTransId="{1FE60BE6-2048-493B-8436-5E00CA042C71}" sibTransId="{6E4FA93A-376F-4FF4-9DA1-416E9A247BB3}"/>
    <dgm:cxn modelId="{A3F2D9F5-E338-4822-9F4A-86626D5F9F61}" srcId="{521A4C2B-9A71-47B0-8E0D-2DAD646AAB6B}" destId="{4D23B448-7040-47DB-9B65-8218B6F95EEE}" srcOrd="0" destOrd="0" parTransId="{D7BEF921-7DA1-49BE-9683-586A0789E69B}" sibTransId="{FA405FA8-16BA-4500-BE69-504DEC111689}"/>
    <dgm:cxn modelId="{34FCA8FA-8B10-4CD3-8CA0-73206B9B2779}" type="presParOf" srcId="{4061D75F-0E34-4A98-8051-48B6499A2256}" destId="{223CD4CC-99A1-41B3-9C4D-0DD1C345D093}" srcOrd="0" destOrd="0" presId="urn:microsoft.com/office/officeart/2005/8/layout/hierarchy1"/>
    <dgm:cxn modelId="{5C0B192F-2B1A-41EB-BE1F-3AE75325B8BB}" type="presParOf" srcId="{223CD4CC-99A1-41B3-9C4D-0DD1C345D093}" destId="{A88546E7-5BF7-41A7-8BFF-B9FDD30F33CA}" srcOrd="0" destOrd="0" presId="urn:microsoft.com/office/officeart/2005/8/layout/hierarchy1"/>
    <dgm:cxn modelId="{AE732FDB-BAAA-472F-AF2C-3BA0D26822F5}" type="presParOf" srcId="{A88546E7-5BF7-41A7-8BFF-B9FDD30F33CA}" destId="{34C1FB1B-37B3-472B-809C-6F1958F74D0D}" srcOrd="0" destOrd="0" presId="urn:microsoft.com/office/officeart/2005/8/layout/hierarchy1"/>
    <dgm:cxn modelId="{BEC90CD3-F228-4819-8791-83DD05C3E0F3}" type="presParOf" srcId="{A88546E7-5BF7-41A7-8BFF-B9FDD30F33CA}" destId="{ADBDCB7A-F34C-436D-AA95-ABE1E232D37B}" srcOrd="1" destOrd="0" presId="urn:microsoft.com/office/officeart/2005/8/layout/hierarchy1"/>
    <dgm:cxn modelId="{5364680F-86BB-471F-BB2B-74F13587740E}" type="presParOf" srcId="{223CD4CC-99A1-41B3-9C4D-0DD1C345D093}" destId="{528447EB-0F32-4CB0-BE10-CDE5D1D4AACD}" srcOrd="1" destOrd="0" presId="urn:microsoft.com/office/officeart/2005/8/layout/hierarchy1"/>
    <dgm:cxn modelId="{9F3189C3-EE34-4651-8512-B39D1FD6555E}" type="presParOf" srcId="{4061D75F-0E34-4A98-8051-48B6499A2256}" destId="{D3E27C49-26F0-41E1-8391-4D2BCA71BBB8}" srcOrd="1" destOrd="0" presId="urn:microsoft.com/office/officeart/2005/8/layout/hierarchy1"/>
    <dgm:cxn modelId="{6A00CF05-9C0C-4C81-9CFC-5ECB8ADC5B3D}" type="presParOf" srcId="{D3E27C49-26F0-41E1-8391-4D2BCA71BBB8}" destId="{23FC522B-65CD-4D4B-A4F3-BB5B0602B843}" srcOrd="0" destOrd="0" presId="urn:microsoft.com/office/officeart/2005/8/layout/hierarchy1"/>
    <dgm:cxn modelId="{0185680D-F756-4DE5-A478-3681D1D10DCB}" type="presParOf" srcId="{23FC522B-65CD-4D4B-A4F3-BB5B0602B843}" destId="{00050B15-8528-49D6-81F6-B3622E898CBB}" srcOrd="0" destOrd="0" presId="urn:microsoft.com/office/officeart/2005/8/layout/hierarchy1"/>
    <dgm:cxn modelId="{36BEE4E6-F037-4124-BFF9-0935A8D90E8A}" type="presParOf" srcId="{23FC522B-65CD-4D4B-A4F3-BB5B0602B843}" destId="{0EAE0271-AF9B-4855-B062-0EFE43C1EC9B}" srcOrd="1" destOrd="0" presId="urn:microsoft.com/office/officeart/2005/8/layout/hierarchy1"/>
    <dgm:cxn modelId="{837770F1-1724-49B7-9414-E740F42462B8}" type="presParOf" srcId="{D3E27C49-26F0-41E1-8391-4D2BCA71BBB8}" destId="{7D9B5819-45B3-45E1-8F41-EAC4925D551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BA8DD2-834E-4762-B905-8DD65D6F6385}">
      <dsp:nvSpPr>
        <dsp:cNvPr id="0" name=""/>
        <dsp:cNvSpPr/>
      </dsp:nvSpPr>
      <dsp:spPr>
        <a:xfrm>
          <a:off x="683905" y="250074"/>
          <a:ext cx="1921500" cy="19215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077E77-04EC-4DB4-A568-AB59B92ADE83}">
      <dsp:nvSpPr>
        <dsp:cNvPr id="0" name=""/>
        <dsp:cNvSpPr/>
      </dsp:nvSpPr>
      <dsp:spPr>
        <a:xfrm>
          <a:off x="1093405" y="659574"/>
          <a:ext cx="1102500" cy="11025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A9A443-B5F8-4FDE-8293-BD187FF1ED44}">
      <dsp:nvSpPr>
        <dsp:cNvPr id="0" name=""/>
        <dsp:cNvSpPr/>
      </dsp:nvSpPr>
      <dsp:spPr>
        <a:xfrm>
          <a:off x="69655" y="2770075"/>
          <a:ext cx="31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 dirty="0"/>
            <a:t>X</a:t>
          </a:r>
          <a:r>
            <a:rPr lang="en-US" sz="1600" kern="1200" baseline="-25000" dirty="0"/>
            <a:t>1</a:t>
          </a:r>
          <a:r>
            <a:rPr lang="en-US" sz="1600" kern="1200" dirty="0"/>
            <a:t>(Precipitation): Total Rainfall Critical Window (April-August)</a:t>
          </a:r>
        </a:p>
      </dsp:txBody>
      <dsp:txXfrm>
        <a:off x="69655" y="2770075"/>
        <a:ext cx="3150000" cy="720000"/>
      </dsp:txXfrm>
    </dsp:sp>
    <dsp:sp modelId="{FA06E941-50BD-496E-B4CD-73C59B3FD26E}">
      <dsp:nvSpPr>
        <dsp:cNvPr id="0" name=""/>
        <dsp:cNvSpPr/>
      </dsp:nvSpPr>
      <dsp:spPr>
        <a:xfrm>
          <a:off x="4385155" y="250074"/>
          <a:ext cx="1921500" cy="19215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0C40C9-9F54-4390-9C57-C41630EC26D8}">
      <dsp:nvSpPr>
        <dsp:cNvPr id="0" name=""/>
        <dsp:cNvSpPr/>
      </dsp:nvSpPr>
      <dsp:spPr>
        <a:xfrm>
          <a:off x="4794655" y="659574"/>
          <a:ext cx="1102500" cy="11025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CA840D-C2D6-437A-9771-BD3AE0BE4362}">
      <dsp:nvSpPr>
        <dsp:cNvPr id="0" name=""/>
        <dsp:cNvSpPr/>
      </dsp:nvSpPr>
      <dsp:spPr>
        <a:xfrm>
          <a:off x="3770905" y="2770075"/>
          <a:ext cx="31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X</a:t>
          </a:r>
          <a:r>
            <a:rPr lang="en-US" sz="1600" kern="1200" baseline="-25000"/>
            <a:t>2</a:t>
          </a:r>
          <a:r>
            <a:rPr lang="en-US" sz="1600" kern="1200"/>
            <a:t>(Temperature): Average daytime temperature of “Growing Degree Days”</a:t>
          </a:r>
        </a:p>
      </dsp:txBody>
      <dsp:txXfrm>
        <a:off x="3770905" y="2770075"/>
        <a:ext cx="3150000" cy="720000"/>
      </dsp:txXfrm>
    </dsp:sp>
    <dsp:sp modelId="{66BD559A-4B70-46CD-A8A9-E2987335B68F}">
      <dsp:nvSpPr>
        <dsp:cNvPr id="0" name=""/>
        <dsp:cNvSpPr/>
      </dsp:nvSpPr>
      <dsp:spPr>
        <a:xfrm>
          <a:off x="8086406" y="250074"/>
          <a:ext cx="1921500" cy="19215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461FEB-A11B-4170-A6E6-F6B47682E9A2}">
      <dsp:nvSpPr>
        <dsp:cNvPr id="0" name=""/>
        <dsp:cNvSpPr/>
      </dsp:nvSpPr>
      <dsp:spPr>
        <a:xfrm>
          <a:off x="8495906" y="659574"/>
          <a:ext cx="1102500" cy="11025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B7EE0E-43B4-41C2-9086-7E18CBA73E4C}">
      <dsp:nvSpPr>
        <dsp:cNvPr id="0" name=""/>
        <dsp:cNvSpPr/>
      </dsp:nvSpPr>
      <dsp:spPr>
        <a:xfrm>
          <a:off x="7472156" y="2770075"/>
          <a:ext cx="31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X</a:t>
          </a:r>
          <a:r>
            <a:rPr lang="en-US" sz="1600" kern="1200" baseline="-25000"/>
            <a:t>3</a:t>
          </a:r>
          <a:r>
            <a:rPr lang="en-US" sz="1600" kern="1200"/>
            <a:t>(Nitrogen Fertilizer): Total pounds applied per acare in Iowa</a:t>
          </a:r>
        </a:p>
      </dsp:txBody>
      <dsp:txXfrm>
        <a:off x="7472156" y="2770075"/>
        <a:ext cx="315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C1FB1B-37B3-472B-809C-6F1958F74D0D}">
      <dsp:nvSpPr>
        <dsp:cNvPr id="0" name=""/>
        <dsp:cNvSpPr/>
      </dsp:nvSpPr>
      <dsp:spPr>
        <a:xfrm>
          <a:off x="134291" y="612"/>
          <a:ext cx="4332795" cy="27513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BDCB7A-F34C-436D-AA95-ABE1E232D37B}">
      <dsp:nvSpPr>
        <dsp:cNvPr id="0" name=""/>
        <dsp:cNvSpPr/>
      </dsp:nvSpPr>
      <dsp:spPr>
        <a:xfrm>
          <a:off x="615713" y="457963"/>
          <a:ext cx="4332795" cy="27513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Center for Transformational Student Experiences (CTSE)</a:t>
          </a:r>
        </a:p>
      </dsp:txBody>
      <dsp:txXfrm>
        <a:off x="696297" y="538547"/>
        <a:ext cx="4171627" cy="2590157"/>
      </dsp:txXfrm>
    </dsp:sp>
    <dsp:sp modelId="{00050B15-8528-49D6-81F6-B3622E898CBB}">
      <dsp:nvSpPr>
        <dsp:cNvPr id="0" name=""/>
        <dsp:cNvSpPr/>
      </dsp:nvSpPr>
      <dsp:spPr>
        <a:xfrm>
          <a:off x="5429930" y="612"/>
          <a:ext cx="4332795" cy="27513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AE0271-AF9B-4855-B062-0EFE43C1EC9B}">
      <dsp:nvSpPr>
        <dsp:cNvPr id="0" name=""/>
        <dsp:cNvSpPr/>
      </dsp:nvSpPr>
      <dsp:spPr>
        <a:xfrm>
          <a:off x="5911352" y="457963"/>
          <a:ext cx="4332795" cy="27513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Dr. Zephyrinus Okonkwo, </a:t>
          </a:r>
          <a:r>
            <a:rPr lang="en-US" sz="1900" kern="1200" dirty="0"/>
            <a:t>Department of Mathematics, Computer Science and Physics</a:t>
          </a:r>
        </a:p>
      </dsp:txBody>
      <dsp:txXfrm>
        <a:off x="5991936" y="538547"/>
        <a:ext cx="4171627" cy="25901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606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979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980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831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907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899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021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205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729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651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822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6807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armprogress.com/crops/why-corn-and-soybeans-form-a-powerful-tag-team" TargetMode="External"/><Relationship Id="rId2" Type="http://schemas.openxmlformats.org/officeDocument/2006/relationships/hyperlink" Target="https://pmc.ncbi.nlm.nih.gov/articles/PMC3049417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extension.iastate.edu/news/farmers-challenged-persistent-cost-price-squeeze-dynamics" TargetMode="External"/><Relationship Id="rId5" Type="http://schemas.openxmlformats.org/officeDocument/2006/relationships/hyperlink" Target="https://www.brownfieldagnews.com/news/diversifying-the-corn-belt/" TargetMode="External"/><Relationship Id="rId4" Type="http://schemas.openxmlformats.org/officeDocument/2006/relationships/hyperlink" Target="https://practicalfarmers.org/2023/10/a-wealth-of-winter-wheat/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D1EC3E-1101-C642-D99D-1E77F06DFA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914400"/>
            <a:ext cx="6239599" cy="130759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dirty="0"/>
              <a:t>A Multivariate Linear Model for Agricultural Data of Iowa for Corn, Soybeans, and Wheat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815BE95-1337-20E2-B2EF-5DA486F72F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163D52BD-02DD-CD7F-25BD-1C0EE75D1E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1913" y="2579599"/>
            <a:ext cx="6239599" cy="320557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By: Ayodeji Williams</a:t>
            </a:r>
          </a:p>
          <a:p>
            <a:r>
              <a:rPr lang="en-US" dirty="0"/>
              <a:t>Mentor: Dr. Zephyrinus Okonkwo</a:t>
            </a:r>
          </a:p>
          <a:p>
            <a:r>
              <a:rPr lang="en-US" dirty="0"/>
              <a:t>Department of Mathematics, Computer Science and Physics</a:t>
            </a:r>
          </a:p>
          <a:p>
            <a:r>
              <a:rPr lang="en-US" dirty="0"/>
              <a:t>Albany State University (ASU)</a:t>
            </a:r>
          </a:p>
          <a:p>
            <a:r>
              <a:rPr lang="en-US" dirty="0"/>
              <a:t>ASU 2026 Undergraduate Research Symposium</a:t>
            </a:r>
          </a:p>
          <a:p>
            <a:r>
              <a:rPr lang="en-US" dirty="0"/>
              <a:t>April 17, 2026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4" name="Picture 3" descr="Tractors in a field">
            <a:extLst>
              <a:ext uri="{FF2B5EF4-FFF2-40B4-BE49-F238E27FC236}">
                <a16:creationId xmlns:a16="http://schemas.microsoft.com/office/drawing/2014/main" id="{2DF234DE-D88A-E26D-1BF9-FCE8E3F3B6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831" r="21481" b="375"/>
          <a:stretch>
            <a:fillRect/>
          </a:stretch>
        </p:blipFill>
        <p:spPr>
          <a:xfrm>
            <a:off x="7583424" y="10"/>
            <a:ext cx="4608576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4784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1FB64-A68D-B5F1-A6CF-CEDE8910F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Introduction/background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ADA1FE-8798-9CB4-63CA-0CA4A5D54C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multivariate linear model is statistical method of prediction that is used to conduct analysis of covariance between </a:t>
            </a:r>
            <a:r>
              <a:rPr lang="en-US" b="1" dirty="0"/>
              <a:t>multiple dependent variables(outcomes)</a:t>
            </a:r>
            <a:r>
              <a:rPr lang="en-US" dirty="0"/>
              <a:t> concurrently as </a:t>
            </a:r>
            <a:r>
              <a:rPr lang="en-US" b="1" dirty="0"/>
              <a:t>a linear combination of the predictor variables.</a:t>
            </a:r>
          </a:p>
          <a:p>
            <a:pPr lvl="1"/>
            <a:r>
              <a:rPr lang="en-US" dirty="0"/>
              <a:t>Multiple Independent and Dependent Variables</a:t>
            </a:r>
          </a:p>
          <a:p>
            <a:r>
              <a:rPr lang="en-US" dirty="0"/>
              <a:t>Models a vector of responses capturing the relationships between outcomes of the predictors with the goal of understanding how factors impact multiple outcomes </a:t>
            </a:r>
            <a:r>
              <a:rPr lang="en-US" dirty="0" err="1"/>
              <a:t>simultaniously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86863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40F3F-A4FB-BC7C-BAD5-0A5D056BC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Intro &amp; background cont’d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7E49F-EC81-8ECE-2B5B-11CE767993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221992"/>
            <a:ext cx="10691265" cy="816176"/>
          </a:xfrm>
        </p:spPr>
        <p:txBody>
          <a:bodyPr/>
          <a:lstStyle/>
          <a:p>
            <a:r>
              <a:rPr lang="en-US" sz="2500" dirty="0"/>
              <a:t>A Multivariate Linear Model follows: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1C8556-B816-2157-EF64-DB33018EF81D}"/>
              </a:ext>
            </a:extLst>
          </p:cNvPr>
          <p:cNvSpPr txBox="1"/>
          <p:nvPr/>
        </p:nvSpPr>
        <p:spPr>
          <a:xfrm>
            <a:off x="2212259" y="2900516"/>
            <a:ext cx="60665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/>
              <a:t>Y=X</a:t>
            </a:r>
            <a:r>
              <a:rPr lang="el-GR" sz="3000" b="1" dirty="0"/>
              <a:t>β</a:t>
            </a:r>
            <a:r>
              <a:rPr lang="en-US" sz="3000" b="1" dirty="0"/>
              <a:t>+</a:t>
            </a:r>
            <a:r>
              <a:rPr lang="el-GR" sz="3000" b="1" dirty="0"/>
              <a:t>ε</a:t>
            </a:r>
            <a:r>
              <a:rPr lang="en-US" sz="3000" b="1" dirty="0"/>
              <a:t> or Y=XB+E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77213A-74E3-CD71-EDBA-6266C1B58BEC}"/>
              </a:ext>
            </a:extLst>
          </p:cNvPr>
          <p:cNvSpPr txBox="1"/>
          <p:nvPr/>
        </p:nvSpPr>
        <p:spPr>
          <a:xfrm>
            <a:off x="2517058" y="3635167"/>
            <a:ext cx="564371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Y</a:t>
            </a:r>
            <a:r>
              <a:rPr lang="en-US" dirty="0"/>
              <a:t> is an </a:t>
            </a:r>
            <a:r>
              <a:rPr lang="en-US" i="1" dirty="0"/>
              <a:t>n </a:t>
            </a:r>
            <a:r>
              <a:rPr lang="en-US" sz="1500" i="1" dirty="0"/>
              <a:t>x </a:t>
            </a:r>
            <a:r>
              <a:rPr lang="en-US" i="1" dirty="0"/>
              <a:t>1</a:t>
            </a:r>
            <a:r>
              <a:rPr lang="en-US" sz="1500" i="1" dirty="0"/>
              <a:t> </a:t>
            </a:r>
            <a:r>
              <a:rPr lang="en-US" dirty="0"/>
              <a:t>vector of the dependent variables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X</a:t>
            </a:r>
            <a:r>
              <a:rPr lang="en-US" dirty="0"/>
              <a:t> is the </a:t>
            </a:r>
            <a:r>
              <a:rPr lang="en-US" i="1" dirty="0"/>
              <a:t>n x p + 1 </a:t>
            </a:r>
            <a:r>
              <a:rPr lang="en-US" dirty="0"/>
              <a:t>matrix that represents the design matrix of the independent variables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b="1" dirty="0"/>
              <a:t>Β</a:t>
            </a:r>
            <a:r>
              <a:rPr lang="en-US" b="1" dirty="0"/>
              <a:t>(beata) </a:t>
            </a:r>
            <a:r>
              <a:rPr lang="en-US" dirty="0"/>
              <a:t>is a </a:t>
            </a:r>
            <a:r>
              <a:rPr lang="en-US" i="1" dirty="0"/>
              <a:t>p + 1 x 1 </a:t>
            </a:r>
            <a:r>
              <a:rPr lang="en-US" dirty="0"/>
              <a:t>vector and it is the coefficient or parameters to be estimated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b="1" dirty="0"/>
              <a:t>Ε</a:t>
            </a:r>
            <a:r>
              <a:rPr lang="en-US" b="1" dirty="0"/>
              <a:t>(epsilon) </a:t>
            </a:r>
            <a:r>
              <a:rPr lang="en-US" dirty="0"/>
              <a:t>is an </a:t>
            </a:r>
            <a:r>
              <a:rPr lang="en-US" i="1" dirty="0"/>
              <a:t>n x 1 </a:t>
            </a:r>
            <a:r>
              <a:rPr lang="en-US" dirty="0"/>
              <a:t>vector and it is the error terms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7E48B0-2041-8DA2-C589-3B2869EF7BCC}"/>
              </a:ext>
            </a:extLst>
          </p:cNvPr>
          <p:cNvSpPr txBox="1"/>
          <p:nvPr/>
        </p:nvSpPr>
        <p:spPr>
          <a:xfrm>
            <a:off x="1042219" y="5624052"/>
            <a:ext cx="9193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 </a:t>
            </a:r>
            <a:r>
              <a:rPr lang="en-US" b="1" dirty="0"/>
              <a:t>Purpose: </a:t>
            </a:r>
            <a:r>
              <a:rPr lang="en-US" dirty="0"/>
              <a:t>Allows the compact solving of linear regressions with multiple predictors </a:t>
            </a:r>
          </a:p>
        </p:txBody>
      </p:sp>
    </p:spTree>
    <p:extLst>
      <p:ext uri="{BB962C8B-B14F-4D97-AF65-F5344CB8AC3E}">
        <p14:creationId xmlns:p14="http://schemas.microsoft.com/office/powerpoint/2010/main" val="1440527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05911-2742-9399-D978-956B24328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 Cont’d</a:t>
            </a:r>
            <a:br>
              <a:rPr lang="en-US" dirty="0"/>
            </a:br>
            <a:r>
              <a:rPr lang="en-US" sz="2500" dirty="0"/>
              <a:t>Solving for predictors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C5C37C-0CBC-8B6E-80CD-CD56047C36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996376"/>
            <a:ext cx="4549791" cy="3739896"/>
          </a:xfrm>
        </p:spPr>
        <p:txBody>
          <a:bodyPr>
            <a:normAutofit/>
          </a:bodyPr>
          <a:lstStyle/>
          <a:p>
            <a:r>
              <a:rPr lang="en-US" dirty="0"/>
              <a:t>Ordinary Least Squares (OLS)</a:t>
            </a:r>
          </a:p>
          <a:p>
            <a:pPr lvl="1"/>
            <a:r>
              <a:rPr lang="en-US" dirty="0"/>
              <a:t>Top Estimate Coefficients</a:t>
            </a:r>
          </a:p>
          <a:p>
            <a:pPr lvl="1"/>
            <a:r>
              <a:rPr lang="en-US" sz="2000" b="1" dirty="0"/>
              <a:t>B=(X</a:t>
            </a:r>
            <a:r>
              <a:rPr lang="en-US" sz="2000" b="1" baseline="30000" dirty="0"/>
              <a:t>T</a:t>
            </a:r>
            <a:r>
              <a:rPr lang="en-US" sz="2000" b="1" dirty="0"/>
              <a:t>X)</a:t>
            </a:r>
            <a:r>
              <a:rPr lang="en-US" sz="2000" b="1" baseline="30000" dirty="0"/>
              <a:t>-1</a:t>
            </a:r>
            <a:r>
              <a:rPr lang="en-US" sz="2000" b="1" dirty="0"/>
              <a:t>X</a:t>
            </a:r>
            <a:r>
              <a:rPr lang="en-US" sz="2000" b="1" baseline="30000" dirty="0"/>
              <a:t>T</a:t>
            </a:r>
            <a:r>
              <a:rPr lang="en-US" sz="2000" b="1" dirty="0"/>
              <a:t>Y</a:t>
            </a:r>
          </a:p>
          <a:p>
            <a:pPr lvl="2"/>
            <a:r>
              <a:rPr lang="en-US" sz="2000" b="1" dirty="0"/>
              <a:t>X: </a:t>
            </a:r>
            <a:r>
              <a:rPr lang="en-US" sz="2000" dirty="0"/>
              <a:t>Design Matrix</a:t>
            </a:r>
          </a:p>
          <a:p>
            <a:pPr lvl="3"/>
            <a:endParaRPr lang="en-US" sz="2500" dirty="0"/>
          </a:p>
          <a:p>
            <a:pPr lvl="3"/>
            <a:endParaRPr lang="en-US" sz="2500" dirty="0"/>
          </a:p>
          <a:p>
            <a:pPr lvl="3"/>
            <a:endParaRPr lang="en-US" sz="2500" dirty="0"/>
          </a:p>
          <a:p>
            <a:pPr lvl="2"/>
            <a:endParaRPr lang="en-US" sz="2000" dirty="0"/>
          </a:p>
        </p:txBody>
      </p:sp>
      <p:sp>
        <p:nvSpPr>
          <p:cNvPr id="8" name="Double Bracket 7">
            <a:extLst>
              <a:ext uri="{FF2B5EF4-FFF2-40B4-BE49-F238E27FC236}">
                <a16:creationId xmlns:a16="http://schemas.microsoft.com/office/drawing/2014/main" id="{B04162AE-0E34-2F17-FE75-2836E809D389}"/>
              </a:ext>
            </a:extLst>
          </p:cNvPr>
          <p:cNvSpPr/>
          <p:nvPr/>
        </p:nvSpPr>
        <p:spPr>
          <a:xfrm>
            <a:off x="1005041" y="3529584"/>
            <a:ext cx="3724276" cy="2566416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49391DE8-09FE-38C2-4A1C-DFF22119A9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7104836"/>
              </p:ext>
            </p:extLst>
          </p:nvPr>
        </p:nvGraphicFramePr>
        <p:xfrm>
          <a:off x="1913484" y="3485826"/>
          <a:ext cx="2745284" cy="2926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1667">
                  <a:extLst>
                    <a:ext uri="{9D8B030D-6E8A-4147-A177-3AD203B41FA5}">
                      <a16:colId xmlns:a16="http://schemas.microsoft.com/office/drawing/2014/main" val="2427020170"/>
                    </a:ext>
                  </a:extLst>
                </a:gridCol>
                <a:gridCol w="765268">
                  <a:extLst>
                    <a:ext uri="{9D8B030D-6E8A-4147-A177-3AD203B41FA5}">
                      <a16:colId xmlns:a16="http://schemas.microsoft.com/office/drawing/2014/main" val="775002140"/>
                    </a:ext>
                  </a:extLst>
                </a:gridCol>
                <a:gridCol w="765268">
                  <a:extLst>
                    <a:ext uri="{9D8B030D-6E8A-4147-A177-3AD203B41FA5}">
                      <a16:colId xmlns:a16="http://schemas.microsoft.com/office/drawing/2014/main" val="2371376945"/>
                    </a:ext>
                  </a:extLst>
                </a:gridCol>
                <a:gridCol w="593081">
                  <a:extLst>
                    <a:ext uri="{9D8B030D-6E8A-4147-A177-3AD203B41FA5}">
                      <a16:colId xmlns:a16="http://schemas.microsoft.com/office/drawing/2014/main" val="3990748626"/>
                    </a:ext>
                  </a:extLst>
                </a:gridCol>
              </a:tblGrid>
              <a:tr h="556481">
                <a:tc>
                  <a:txBody>
                    <a:bodyPr/>
                    <a:lstStyle/>
                    <a:p>
                      <a:r>
                        <a:rPr lang="en-US" sz="2000" dirty="0"/>
                        <a:t>X</a:t>
                      </a:r>
                      <a:r>
                        <a:rPr lang="en-US" sz="100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sz="10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sz="1000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X</a:t>
                      </a:r>
                      <a:r>
                        <a:rPr lang="en-US" sz="1000" dirty="0"/>
                        <a:t>14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9785613"/>
                  </a:ext>
                </a:extLst>
              </a:tr>
              <a:tr h="556481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sz="1000" dirty="0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sz="1000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sz="1000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X</a:t>
                      </a:r>
                      <a:r>
                        <a:rPr lang="en-US" sz="1000" dirty="0"/>
                        <a:t>24</a:t>
                      </a:r>
                      <a:endParaRPr lang="en-US" sz="1800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5119625"/>
                  </a:ext>
                </a:extLst>
              </a:tr>
              <a:tr h="317989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sz="1000" dirty="0"/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sz="1000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sz="1000" dirty="0"/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sz="1000" dirty="0"/>
                        <a:t>34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6546692"/>
                  </a:ext>
                </a:extLst>
              </a:tr>
              <a:tr h="55648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X</a:t>
                      </a:r>
                      <a:r>
                        <a:rPr lang="en-US" sz="1000" dirty="0"/>
                        <a:t>41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X</a:t>
                      </a:r>
                      <a:r>
                        <a:rPr lang="en-US" sz="1000" dirty="0"/>
                        <a:t>42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X</a:t>
                      </a:r>
                      <a:r>
                        <a:rPr lang="en-US" sz="1000" dirty="0"/>
                        <a:t>43</a:t>
                      </a:r>
                      <a:endParaRPr lang="en-US" sz="1800" dirty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X</a:t>
                      </a:r>
                      <a:r>
                        <a:rPr lang="en-US" sz="1000" dirty="0"/>
                        <a:t>44</a:t>
                      </a:r>
                      <a:endParaRPr lang="en-US" sz="1800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9305724"/>
                  </a:ext>
                </a:extLst>
              </a:tr>
              <a:tr h="55648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X</a:t>
                      </a:r>
                      <a:r>
                        <a:rPr lang="en-US" sz="1000" dirty="0"/>
                        <a:t>51</a:t>
                      </a:r>
                      <a:endParaRPr lang="en-US" sz="1800" dirty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X</a:t>
                      </a:r>
                      <a:r>
                        <a:rPr lang="en-US" sz="1000" dirty="0"/>
                        <a:t>52</a:t>
                      </a:r>
                      <a:endParaRPr lang="en-US" sz="1800" dirty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X</a:t>
                      </a:r>
                      <a:r>
                        <a:rPr lang="en-US" sz="1000" dirty="0"/>
                        <a:t>53</a:t>
                      </a:r>
                      <a:endParaRPr lang="en-US" sz="1800" dirty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X</a:t>
                      </a:r>
                      <a:r>
                        <a:rPr lang="en-US" sz="1000" dirty="0"/>
                        <a:t>54</a:t>
                      </a:r>
                      <a:endParaRPr lang="en-US" sz="1800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248769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46A7574B-C9EE-CB78-697C-6155CFDE3665}"/>
              </a:ext>
            </a:extLst>
          </p:cNvPr>
          <p:cNvSpPr txBox="1"/>
          <p:nvPr/>
        </p:nvSpPr>
        <p:spPr>
          <a:xfrm>
            <a:off x="4847305" y="2037326"/>
            <a:ext cx="4355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X</a:t>
            </a:r>
            <a:r>
              <a:rPr lang="en-US" b="1" baseline="30000" dirty="0"/>
              <a:t>T</a:t>
            </a:r>
            <a:r>
              <a:rPr lang="en-US" b="1" dirty="0"/>
              <a:t>: </a:t>
            </a:r>
            <a:r>
              <a:rPr lang="en-US" dirty="0"/>
              <a:t>Transpose of the Design Matrix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B2C1144C-82C3-054D-AE4D-09D3ED8EDF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1415291"/>
              </p:ext>
            </p:extLst>
          </p:nvPr>
        </p:nvGraphicFramePr>
        <p:xfrm>
          <a:off x="5063613" y="2636520"/>
          <a:ext cx="7239820" cy="1584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964">
                  <a:extLst>
                    <a:ext uri="{9D8B030D-6E8A-4147-A177-3AD203B41FA5}">
                      <a16:colId xmlns:a16="http://schemas.microsoft.com/office/drawing/2014/main" val="642190449"/>
                    </a:ext>
                  </a:extLst>
                </a:gridCol>
                <a:gridCol w="1447964">
                  <a:extLst>
                    <a:ext uri="{9D8B030D-6E8A-4147-A177-3AD203B41FA5}">
                      <a16:colId xmlns:a16="http://schemas.microsoft.com/office/drawing/2014/main" val="639898639"/>
                    </a:ext>
                  </a:extLst>
                </a:gridCol>
                <a:gridCol w="1447964">
                  <a:extLst>
                    <a:ext uri="{9D8B030D-6E8A-4147-A177-3AD203B41FA5}">
                      <a16:colId xmlns:a16="http://schemas.microsoft.com/office/drawing/2014/main" val="1085875682"/>
                    </a:ext>
                  </a:extLst>
                </a:gridCol>
                <a:gridCol w="1447964">
                  <a:extLst>
                    <a:ext uri="{9D8B030D-6E8A-4147-A177-3AD203B41FA5}">
                      <a16:colId xmlns:a16="http://schemas.microsoft.com/office/drawing/2014/main" val="3175137365"/>
                    </a:ext>
                  </a:extLst>
                </a:gridCol>
                <a:gridCol w="1447964">
                  <a:extLst>
                    <a:ext uri="{9D8B030D-6E8A-4147-A177-3AD203B41FA5}">
                      <a16:colId xmlns:a16="http://schemas.microsoft.com/office/drawing/2014/main" val="2385208991"/>
                    </a:ext>
                  </a:extLst>
                </a:gridCol>
              </a:tblGrid>
              <a:tr h="391082">
                <a:tc>
                  <a:txBody>
                    <a:bodyPr/>
                    <a:lstStyle/>
                    <a:p>
                      <a:r>
                        <a:rPr lang="en-US" sz="2000" dirty="0"/>
                        <a:t>X</a:t>
                      </a:r>
                      <a:r>
                        <a:rPr lang="en-US" sz="100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sz="1000" dirty="0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sz="1000" dirty="0"/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X</a:t>
                      </a:r>
                      <a:r>
                        <a:rPr lang="en-US" sz="1000" dirty="0"/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X</a:t>
                      </a:r>
                      <a:r>
                        <a:rPr lang="en-US" sz="1000" dirty="0"/>
                        <a:t>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1488020"/>
                  </a:ext>
                </a:extLst>
              </a:tr>
              <a:tr h="391082">
                <a:tc>
                  <a:txBody>
                    <a:bodyPr/>
                    <a:lstStyle/>
                    <a:p>
                      <a:r>
                        <a:rPr lang="en-US" sz="2000" dirty="0"/>
                        <a:t>X</a:t>
                      </a:r>
                      <a:r>
                        <a:rPr lang="en-US" sz="10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sz="1000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sz="1000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X</a:t>
                      </a:r>
                      <a:r>
                        <a:rPr lang="en-US" sz="1000" dirty="0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X</a:t>
                      </a:r>
                      <a:r>
                        <a:rPr lang="en-US" sz="1000" dirty="0"/>
                        <a:t>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7056676"/>
                  </a:ext>
                </a:extLst>
              </a:tr>
              <a:tr h="391082">
                <a:tc>
                  <a:txBody>
                    <a:bodyPr/>
                    <a:lstStyle/>
                    <a:p>
                      <a:r>
                        <a:rPr lang="en-US" sz="2000" dirty="0"/>
                        <a:t>X</a:t>
                      </a:r>
                      <a:r>
                        <a:rPr lang="en-US" sz="1000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sz="1000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sz="1000" dirty="0"/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X</a:t>
                      </a:r>
                      <a:r>
                        <a:rPr lang="en-US" sz="1000" dirty="0"/>
                        <a:t>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X</a:t>
                      </a:r>
                      <a:r>
                        <a:rPr lang="en-US" sz="1000" dirty="0"/>
                        <a:t>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9293884"/>
                  </a:ext>
                </a:extLst>
              </a:tr>
              <a:tr h="391082">
                <a:tc>
                  <a:txBody>
                    <a:bodyPr/>
                    <a:lstStyle/>
                    <a:p>
                      <a:r>
                        <a:rPr lang="en-US" sz="2000" dirty="0"/>
                        <a:t>X</a:t>
                      </a:r>
                      <a:r>
                        <a:rPr lang="en-US" sz="1000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sz="1000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sz="1000" dirty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X</a:t>
                      </a:r>
                      <a:r>
                        <a:rPr lang="en-US" sz="1000" dirty="0"/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X</a:t>
                      </a:r>
                      <a:r>
                        <a:rPr lang="en-US" sz="1000" dirty="0"/>
                        <a:t>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6840824"/>
                  </a:ext>
                </a:extLst>
              </a:tr>
            </a:tbl>
          </a:graphicData>
        </a:graphic>
      </p:graphicFrame>
      <p:sp>
        <p:nvSpPr>
          <p:cNvPr id="17" name="Double Bracket 16">
            <a:extLst>
              <a:ext uri="{FF2B5EF4-FFF2-40B4-BE49-F238E27FC236}">
                <a16:creationId xmlns:a16="http://schemas.microsoft.com/office/drawing/2014/main" id="{9C7FAB1D-D7CC-CF9B-A717-CABA64DD8380}"/>
              </a:ext>
            </a:extLst>
          </p:cNvPr>
          <p:cNvSpPr/>
          <p:nvPr/>
        </p:nvSpPr>
        <p:spPr>
          <a:xfrm>
            <a:off x="4899536" y="2395380"/>
            <a:ext cx="6656439" cy="1951268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9E8902B-A977-24C6-4B3F-6384B574DB32}"/>
              </a:ext>
            </a:extLst>
          </p:cNvPr>
          <p:cNvSpPr txBox="1"/>
          <p:nvPr/>
        </p:nvSpPr>
        <p:spPr>
          <a:xfrm>
            <a:off x="5063613" y="4394868"/>
            <a:ext cx="632828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(X</a:t>
            </a:r>
            <a:r>
              <a:rPr lang="en-US" b="1" baseline="30000" dirty="0"/>
              <a:t>T</a:t>
            </a:r>
            <a:r>
              <a:rPr lang="en-US" b="1" dirty="0"/>
              <a:t>X) </a:t>
            </a:r>
            <a:r>
              <a:rPr lang="en-US" dirty="0"/>
              <a:t>Multiplication of both matrices which only exist if there is no multicollinearity (full column rank)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(X</a:t>
            </a:r>
            <a:r>
              <a:rPr lang="en-US" b="1" baseline="30000" dirty="0"/>
              <a:t>T</a:t>
            </a:r>
            <a:r>
              <a:rPr lang="en-US" b="1" dirty="0"/>
              <a:t>X)</a:t>
            </a:r>
            <a:r>
              <a:rPr lang="en-US" b="1" baseline="30000" dirty="0"/>
              <a:t>-1 </a:t>
            </a:r>
            <a:r>
              <a:rPr lang="en-US" dirty="0"/>
              <a:t>The inverse of that matrix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aseline="300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63F9B9B-A6ED-8DBA-1275-F74B55C663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5343059"/>
              </p:ext>
            </p:extLst>
          </p:nvPr>
        </p:nvGraphicFramePr>
        <p:xfrm>
          <a:off x="1320271" y="3596708"/>
          <a:ext cx="426065" cy="23468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6065">
                  <a:extLst>
                    <a:ext uri="{9D8B030D-6E8A-4147-A177-3AD203B41FA5}">
                      <a16:colId xmlns:a16="http://schemas.microsoft.com/office/drawing/2014/main" val="3164988994"/>
                    </a:ext>
                  </a:extLst>
                </a:gridCol>
              </a:tblGrid>
              <a:tr h="469378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6082338"/>
                  </a:ext>
                </a:extLst>
              </a:tr>
              <a:tr h="469378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8928518"/>
                  </a:ext>
                </a:extLst>
              </a:tr>
              <a:tr h="469378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4136332"/>
                  </a:ext>
                </a:extLst>
              </a:tr>
              <a:tr h="469378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3464454"/>
                  </a:ext>
                </a:extLst>
              </a:tr>
              <a:tr h="469378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591870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D39133C-13CE-F729-CB86-6EFBDD66F8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1210523"/>
              </p:ext>
            </p:extLst>
          </p:nvPr>
        </p:nvGraphicFramePr>
        <p:xfrm>
          <a:off x="5199421" y="2371936"/>
          <a:ext cx="6243485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48697">
                  <a:extLst>
                    <a:ext uri="{9D8B030D-6E8A-4147-A177-3AD203B41FA5}">
                      <a16:colId xmlns:a16="http://schemas.microsoft.com/office/drawing/2014/main" val="383879583"/>
                    </a:ext>
                  </a:extLst>
                </a:gridCol>
                <a:gridCol w="1248697">
                  <a:extLst>
                    <a:ext uri="{9D8B030D-6E8A-4147-A177-3AD203B41FA5}">
                      <a16:colId xmlns:a16="http://schemas.microsoft.com/office/drawing/2014/main" val="2063895703"/>
                    </a:ext>
                  </a:extLst>
                </a:gridCol>
                <a:gridCol w="1248697">
                  <a:extLst>
                    <a:ext uri="{9D8B030D-6E8A-4147-A177-3AD203B41FA5}">
                      <a16:colId xmlns:a16="http://schemas.microsoft.com/office/drawing/2014/main" val="2151065952"/>
                    </a:ext>
                  </a:extLst>
                </a:gridCol>
                <a:gridCol w="1248697">
                  <a:extLst>
                    <a:ext uri="{9D8B030D-6E8A-4147-A177-3AD203B41FA5}">
                      <a16:colId xmlns:a16="http://schemas.microsoft.com/office/drawing/2014/main" val="3498896481"/>
                    </a:ext>
                  </a:extLst>
                </a:gridCol>
                <a:gridCol w="1248697">
                  <a:extLst>
                    <a:ext uri="{9D8B030D-6E8A-4147-A177-3AD203B41FA5}">
                      <a16:colId xmlns:a16="http://schemas.microsoft.com/office/drawing/2014/main" val="36028627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52209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8998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5C459-6189-1F49-9CFE-476BA63A8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Introduction/Background cont’d</a:t>
            </a:r>
            <a:br>
              <a:rPr lang="en-US" dirty="0"/>
            </a:br>
            <a:r>
              <a:rPr lang="en-US" sz="3000" dirty="0"/>
              <a:t>Abstract: Application of the Concept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D6ABCA-9A20-0EEB-CBB1-6736F8A017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This project investigates the joint relationship between Corn, Soybeans, and wheat yield in Iowa.</a:t>
            </a:r>
          </a:p>
          <a:p>
            <a:pPr lvl="1"/>
            <a:r>
              <a:rPr lang="en-US" dirty="0"/>
              <a:t>Particularly climatic variables such as precipitation, alongside anthropogenic factors like fertilizer(Nitrogen) use </a:t>
            </a:r>
          </a:p>
          <a:p>
            <a:pPr lvl="2"/>
            <a:r>
              <a:rPr lang="en-US" dirty="0"/>
              <a:t>To fill the gaps that already exist in the univariate models. </a:t>
            </a:r>
          </a:p>
          <a:p>
            <a:r>
              <a:rPr lang="en-US" dirty="0"/>
              <a:t>We took data from the USDA NASS from 2020 to 2025, with a focus on soil quality, considering the covariance between corn, soybeans, and wheat yields. </a:t>
            </a:r>
          </a:p>
          <a:p>
            <a:r>
              <a:rPr lang="en-US" dirty="0"/>
              <a:t>The model follows the form </a:t>
            </a:r>
            <a:r>
              <a:rPr lang="en-US" b="1" dirty="0"/>
              <a:t>Y=XB+E</a:t>
            </a:r>
            <a:endParaRPr lang="en-US" dirty="0"/>
          </a:p>
          <a:p>
            <a:pPr lvl="1"/>
            <a:r>
              <a:rPr lang="en-US" dirty="0"/>
              <a:t>Y is the multi-crop yield matrix, </a:t>
            </a:r>
          </a:p>
          <a:p>
            <a:pPr lvl="1"/>
            <a:r>
              <a:rPr lang="en-US" dirty="0"/>
              <a:t>X as the matrix for environmental predictors</a:t>
            </a:r>
          </a:p>
          <a:p>
            <a:pPr lvl="1"/>
            <a:r>
              <a:rPr lang="en-US" dirty="0"/>
              <a:t>E the error terms associated.</a:t>
            </a:r>
          </a:p>
        </p:txBody>
      </p:sp>
    </p:spTree>
    <p:extLst>
      <p:ext uri="{BB962C8B-B14F-4D97-AF65-F5344CB8AC3E}">
        <p14:creationId xmlns:p14="http://schemas.microsoft.com/office/powerpoint/2010/main" val="939562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32BBFB-D942-8638-7340-A115B22CD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05256"/>
            <a:ext cx="2834979" cy="5218679"/>
          </a:xfrm>
        </p:spPr>
        <p:txBody>
          <a:bodyPr>
            <a:normAutofit/>
          </a:bodyPr>
          <a:lstStyle/>
          <a:p>
            <a:r>
              <a:rPr lang="en-US" sz="3200" dirty="0"/>
              <a:t>Iowa as an agricultural powerhouse and The </a:t>
            </a:r>
            <a:r>
              <a:rPr lang="en-US" sz="3200" i="1" dirty="0"/>
              <a:t>“powerful Tag Team” </a:t>
            </a:r>
            <a:r>
              <a:rPr lang="en-US" sz="3200" dirty="0"/>
              <a:t>of Corn and Soybean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98AD7D-44C3-C5BD-A8ED-731DF536BF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3866" y="905256"/>
            <a:ext cx="7644046" cy="5256243"/>
          </a:xfrm>
        </p:spPr>
        <p:txBody>
          <a:bodyPr>
            <a:normAutofit/>
          </a:bodyPr>
          <a:lstStyle/>
          <a:p>
            <a:r>
              <a:rPr lang="en-US" dirty="0"/>
              <a:t>The “dynamic duo” started off as horse forage crop, and with time became the predominant grain crop because of various historical and biological factors. </a:t>
            </a:r>
          </a:p>
          <a:p>
            <a:pPr lvl="1"/>
            <a:r>
              <a:rPr lang="en-US" b="1" dirty="0"/>
              <a:t>Agronomical Synergy: </a:t>
            </a:r>
            <a:r>
              <a:rPr lang="en-US" dirty="0"/>
              <a:t>Soybeans are classified as </a:t>
            </a:r>
            <a:r>
              <a:rPr lang="en-US" b="1" i="1" dirty="0"/>
              <a:t>legumes</a:t>
            </a:r>
            <a:r>
              <a:rPr lang="en-US" b="1" dirty="0"/>
              <a:t> with the natural ability to improve nitrogen in the soil,</a:t>
            </a:r>
            <a:r>
              <a:rPr lang="en-US" dirty="0"/>
              <a:t> due to this, corns will require less nitrogen fertilization, which reduces costs for farmers</a:t>
            </a:r>
          </a:p>
          <a:p>
            <a:pPr lvl="1"/>
            <a:r>
              <a:rPr lang="en-US" b="1" dirty="0"/>
              <a:t>The rotation </a:t>
            </a:r>
            <a:r>
              <a:rPr lang="en-US" dirty="0"/>
              <a:t>of these two crops on a farm provides </a:t>
            </a:r>
            <a:r>
              <a:rPr lang="en-US" b="1" dirty="0"/>
              <a:t>pest and disease control</a:t>
            </a:r>
            <a:r>
              <a:rPr lang="en-US" dirty="0"/>
              <a:t>, resulting in better health for crops and higher yields.</a:t>
            </a:r>
          </a:p>
          <a:p>
            <a:pPr lvl="1"/>
            <a:r>
              <a:rPr lang="en-US" b="1" dirty="0"/>
              <a:t>Residue Management: </a:t>
            </a:r>
            <a:r>
              <a:rPr lang="en-US" dirty="0"/>
              <a:t>the adaptability of soybeans, they can thrive regardless of the heavy corn residue</a:t>
            </a:r>
          </a:p>
          <a:p>
            <a:pPr lvl="1"/>
            <a:r>
              <a:rPr lang="en-US" dirty="0"/>
              <a:t>They also </a:t>
            </a:r>
            <a:r>
              <a:rPr lang="en-US" b="1" dirty="0"/>
              <a:t>use the same </a:t>
            </a:r>
            <a:r>
              <a:rPr lang="en-US" dirty="0"/>
              <a:t>machinery.</a:t>
            </a:r>
            <a:endParaRPr lang="en-US" b="1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33715A5-8048-453E-A44A-0F17BBB481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27857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218C2C-DE71-BC06-A0C8-DF3328FE6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899024"/>
            <a:ext cx="3076032" cy="3914947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dirty="0"/>
              <a:t>Corn &amp; soybean cont’d</a:t>
            </a:r>
            <a:br>
              <a:rPr lang="en-US" dirty="0"/>
            </a:br>
            <a:r>
              <a:rPr lang="en-US" dirty="0"/>
              <a:t>yield from 2020-2025 </a:t>
            </a:r>
            <a:br>
              <a:rPr lang="en-US" dirty="0"/>
            </a:br>
            <a:r>
              <a:rPr lang="en-US" dirty="0"/>
              <a:t>(Six-Year period)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371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B3DD82C2-E135-CFD9-432E-E0FDC07201D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17666032"/>
              </p:ext>
            </p:extLst>
          </p:nvPr>
        </p:nvGraphicFramePr>
        <p:xfrm>
          <a:off x="4038600" y="723901"/>
          <a:ext cx="7353299" cy="541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7405993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4F7E44-C0C9-D2F5-5F62-CAC7DD672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05256"/>
            <a:ext cx="2834979" cy="5218679"/>
          </a:xfrm>
        </p:spPr>
        <p:txBody>
          <a:bodyPr>
            <a:normAutofit/>
          </a:bodyPr>
          <a:lstStyle/>
          <a:p>
            <a:r>
              <a:rPr lang="en-US" sz="3200"/>
              <a:t>Wheat production in iowa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0FF6EA-8CF5-8D5C-BD9A-7B01F9C783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3866" y="905256"/>
            <a:ext cx="7644046" cy="525624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500"/>
              <a:t>In search of data, we found that the production of Wheat has decreased and is practically non-existent in Iowa. The latest data on USDA NASS was in 2018.</a:t>
            </a:r>
          </a:p>
          <a:p>
            <a:pPr lvl="1">
              <a:lnSpc>
                <a:spcPct val="100000"/>
              </a:lnSpc>
            </a:pPr>
            <a:r>
              <a:rPr lang="en-US" sz="1500"/>
              <a:t>Farmers in Iowa were surveyed in the </a:t>
            </a:r>
            <a:r>
              <a:rPr lang="en-US" sz="1500" i="1"/>
              <a:t>Iowa Farm and Rural life Poll</a:t>
            </a:r>
            <a:r>
              <a:rPr lang="en-US" sz="1500"/>
              <a:t> in 2025 (Gordon Arbuckle Jr., 2025) </a:t>
            </a:r>
          </a:p>
          <a:p>
            <a:pPr lvl="1">
              <a:lnSpc>
                <a:spcPct val="100000"/>
              </a:lnSpc>
            </a:pPr>
            <a:r>
              <a:rPr lang="en-US" sz="1500"/>
              <a:t>The survey revealed the financial challenges that farmers face that causes this crop production dynamic (Corn &amp; Soybeans)</a:t>
            </a:r>
          </a:p>
          <a:p>
            <a:pPr lvl="2">
              <a:lnSpc>
                <a:spcPct val="100000"/>
              </a:lnSpc>
            </a:pPr>
            <a:r>
              <a:rPr lang="en-US" sz="1500" b="1"/>
              <a:t>“Rising input cost and profit margins”, </a:t>
            </a:r>
            <a:r>
              <a:rPr lang="en-US" sz="1500"/>
              <a:t>input costs like seed and chemicals tends to increase when “profit margins are higher” 88% of them agreed that these profit margins on corn and soybeans are lost to land rent and input costs, therefore “underscoring persistent financial pressures in row crop production.”</a:t>
            </a:r>
          </a:p>
          <a:p>
            <a:pPr lvl="2">
              <a:lnSpc>
                <a:spcPct val="100000"/>
              </a:lnSpc>
            </a:pPr>
            <a:r>
              <a:rPr lang="en-US" sz="1500" b="1"/>
              <a:t>Uncertainty and Risk in the economy</a:t>
            </a:r>
            <a:r>
              <a:rPr lang="en-US" sz="1500"/>
              <a:t>, 85% of famers agreed or strongly agreed that “the boom-bust cycles of commodity production are hard on farmers”</a:t>
            </a:r>
          </a:p>
          <a:p>
            <a:pPr lvl="2">
              <a:lnSpc>
                <a:spcPct val="100000"/>
              </a:lnSpc>
            </a:pPr>
            <a:r>
              <a:rPr lang="en-US" sz="1500"/>
              <a:t>69% feel sometimes like </a:t>
            </a:r>
            <a:r>
              <a:rPr lang="en-US" sz="1500" b="1"/>
              <a:t>they have minimal control over profitability</a:t>
            </a:r>
            <a:r>
              <a:rPr lang="en-US" sz="1500"/>
              <a:t>, </a:t>
            </a:r>
          </a:p>
          <a:p>
            <a:pPr lvl="2">
              <a:lnSpc>
                <a:spcPct val="100000"/>
              </a:lnSpc>
            </a:pPr>
            <a:r>
              <a:rPr lang="en-US" sz="1500"/>
              <a:t>67% agreed </a:t>
            </a:r>
            <a:r>
              <a:rPr lang="en-US" sz="1500" b="1"/>
              <a:t>that heavy reliance on the financial risk of the heavy reliance on corn and soybeans</a:t>
            </a:r>
            <a:r>
              <a:rPr lang="en-US" sz="1500"/>
              <a:t>, </a:t>
            </a:r>
          </a:p>
          <a:p>
            <a:pPr lvl="2">
              <a:lnSpc>
                <a:spcPct val="100000"/>
              </a:lnSpc>
            </a:pPr>
            <a:r>
              <a:rPr lang="en-US" sz="1500"/>
              <a:t>60% felt “</a:t>
            </a:r>
            <a:r>
              <a:rPr lang="en-US" sz="1500" b="1"/>
              <a:t>overly dependent on purchased inputs</a:t>
            </a:r>
            <a:r>
              <a:rPr lang="en-US" sz="1500"/>
              <a:t>.”</a:t>
            </a:r>
          </a:p>
          <a:p>
            <a:pPr>
              <a:lnSpc>
                <a:spcPct val="100000"/>
              </a:lnSpc>
            </a:pPr>
            <a:r>
              <a:rPr lang="en-US" sz="1500"/>
              <a:t>To conduct our analysis and model the data regardless of the lack of recent data, we used the most recent six-year time period which is from 2013-2018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33715A5-8048-453E-A44A-0F17BBB481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57734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2F8CAC-3ECB-F3C7-B9FB-C367B8855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899024"/>
            <a:ext cx="3076032" cy="39149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Six Year time Series of wheat yields in </a:t>
            </a:r>
            <a:r>
              <a:rPr lang="en-US" dirty="0" err="1"/>
              <a:t>iowa</a:t>
            </a:r>
            <a:br>
              <a:rPr lang="en-US" dirty="0"/>
            </a:br>
            <a:r>
              <a:rPr lang="en-US" dirty="0"/>
              <a:t>2013-2018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371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DA488211-CCEB-9125-8517-533752B945D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20671113"/>
              </p:ext>
            </p:extLst>
          </p:nvPr>
        </p:nvGraphicFramePr>
        <p:xfrm>
          <a:off x="4038600" y="723901"/>
          <a:ext cx="7353299" cy="541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540806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EF92585-7A99-6108-9663-8C5903274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867DA9-FC61-D293-F625-81C504E66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4823" y="2109493"/>
            <a:ext cx="4265763" cy="1441776"/>
          </a:xfrm>
        </p:spPr>
        <p:txBody>
          <a:bodyPr anchor="t">
            <a:normAutofit/>
          </a:bodyPr>
          <a:lstStyle/>
          <a:p>
            <a:r>
              <a:rPr lang="en-US" dirty="0"/>
              <a:t>Note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DCB46F-D91D-1438-27A4-44BE9A6B6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1353" y="2200490"/>
            <a:ext cx="5269831" cy="3445399"/>
          </a:xfrm>
        </p:spPr>
        <p:txBody>
          <a:bodyPr>
            <a:normAutofit/>
          </a:bodyPr>
          <a:lstStyle/>
          <a:p>
            <a:r>
              <a:rPr lang="en-US" dirty="0"/>
              <a:t>It is important to note that, there is a multitude of missing data, we try our best to conduct our analysis, data modeling and prediction with the best information available.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8F0A063-5253-8DF5-3B7B-12FE09670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50816" y="3764346"/>
            <a:ext cx="402336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03761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258887-DC11-8B48-1651-442D864E8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8"/>
            <a:ext cx="10691813" cy="1155618"/>
          </a:xfrm>
        </p:spPr>
        <p:txBody>
          <a:bodyPr>
            <a:normAutofit/>
          </a:bodyPr>
          <a:lstStyle/>
          <a:p>
            <a:r>
              <a:rPr lang="en-US" dirty="0"/>
              <a:t>Variable in our model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AD0195E-7F27-4D06-9427-0C121D721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74C2FC-3228-4FC1-B97B-87AD35508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0C79D615-47A2-8DE4-F732-E2C8EB0382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5626350"/>
              </p:ext>
            </p:extLst>
          </p:nvPr>
        </p:nvGraphicFramePr>
        <p:xfrm>
          <a:off x="700088" y="2222500"/>
          <a:ext cx="10691812" cy="3740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196443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BC743B-4F75-C8EB-5B56-50AAB3CFB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899024"/>
            <a:ext cx="3076032" cy="39149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700" dirty="0"/>
              <a:t>Precipitaion Data in relation to corn &amp; Soybeans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371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34C5A1E1-CD7D-9424-0E4A-3283342152E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61782329"/>
              </p:ext>
            </p:extLst>
          </p:nvPr>
        </p:nvGraphicFramePr>
        <p:xfrm>
          <a:off x="4038600" y="723901"/>
          <a:ext cx="7353299" cy="541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9699177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666AAE-009D-6152-D76A-0CE8F3892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899024"/>
            <a:ext cx="3076032" cy="39149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400"/>
              <a:t>Temperature data in relation Corn &amp; Soybeans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371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9CF3E1ED-7F82-8A0A-5FD0-2167AC32704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0017555"/>
              </p:ext>
            </p:extLst>
          </p:nvPr>
        </p:nvGraphicFramePr>
        <p:xfrm>
          <a:off x="4038600" y="723901"/>
          <a:ext cx="7353299" cy="541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1751129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A962D4-AF9F-7345-AF79-6CB7A7A77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899024"/>
            <a:ext cx="3076032" cy="39149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Nitrogen (Fertilizer) use for corn &amp; soybeans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371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177B5016-6197-6E32-C274-F8B40C30D72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40058029"/>
              </p:ext>
            </p:extLst>
          </p:nvPr>
        </p:nvGraphicFramePr>
        <p:xfrm>
          <a:off x="4038600" y="723901"/>
          <a:ext cx="7353299" cy="541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4274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2ABD0B-8B5D-6584-FB2C-5FE006E21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05256"/>
            <a:ext cx="2834979" cy="5218679"/>
          </a:xfrm>
        </p:spPr>
        <p:txBody>
          <a:bodyPr>
            <a:normAutofit/>
          </a:bodyPr>
          <a:lstStyle/>
          <a:p>
            <a:r>
              <a:rPr lang="en-US" sz="3200" dirty="0"/>
              <a:t>Quick Note</a:t>
            </a:r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82BC18F9-84B3-C546-8863-A5E7C1AE050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843866" y="905256"/>
            <a:ext cx="7644046" cy="525624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Due to missing data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Wheat yield data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for the Iowa in the following slides was estimated using regional Soft Red Winter 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Wheat averages from USDA NASS Small Grains Summaries, as state-level data for Iowa is 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frequently suppressed due to low harvested acreage.</a:t>
            </a:r>
            <a:endParaRPr lang="en-US" altLang="en-US" dirty="0"/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lvl="1"/>
            <a:r>
              <a:rPr lang="en-US" dirty="0"/>
              <a:t>The "Regional Representative" Proxy: The Soft Red Winter Wheat (SRW) average for the "Corn Belt" region.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33715A5-8048-453E-A44A-0F17BBB481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02479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3ADFF-DD07-E5FD-94AF-87CD7D71D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92B64-61E2-6F40-8F26-5676C54A1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outcome(Multi-Crop yield) Matrix (Y)</a:t>
            </a:r>
            <a:br>
              <a:rPr lang="en-US" dirty="0"/>
            </a:br>
            <a:r>
              <a:rPr lang="en-US" sz="3300" dirty="0"/>
              <a:t>2020-2025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399FBCA-AF00-1E6C-F5C1-4F5C40CF32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2458898"/>
              </p:ext>
            </p:extLst>
          </p:nvPr>
        </p:nvGraphicFramePr>
        <p:xfrm>
          <a:off x="899855" y="2633765"/>
          <a:ext cx="4775814" cy="20022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91938">
                  <a:extLst>
                    <a:ext uri="{9D8B030D-6E8A-4147-A177-3AD203B41FA5}">
                      <a16:colId xmlns:a16="http://schemas.microsoft.com/office/drawing/2014/main" val="363296706"/>
                    </a:ext>
                  </a:extLst>
                </a:gridCol>
                <a:gridCol w="1591938">
                  <a:extLst>
                    <a:ext uri="{9D8B030D-6E8A-4147-A177-3AD203B41FA5}">
                      <a16:colId xmlns:a16="http://schemas.microsoft.com/office/drawing/2014/main" val="3365152705"/>
                    </a:ext>
                  </a:extLst>
                </a:gridCol>
                <a:gridCol w="1591938">
                  <a:extLst>
                    <a:ext uri="{9D8B030D-6E8A-4147-A177-3AD203B41FA5}">
                      <a16:colId xmlns:a16="http://schemas.microsoft.com/office/drawing/2014/main" val="698926433"/>
                    </a:ext>
                  </a:extLst>
                </a:gridCol>
              </a:tblGrid>
              <a:tr h="33370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54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231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19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267280611"/>
                  </a:ext>
                </a:extLst>
              </a:tr>
              <a:tr h="33370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63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267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49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599469738"/>
                  </a:ext>
                </a:extLst>
              </a:tr>
              <a:tr h="33370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58.5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258.5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52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451845024"/>
                  </a:ext>
                </a:extLst>
              </a:tr>
              <a:tr h="33370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58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259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63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2745590"/>
                  </a:ext>
                </a:extLst>
              </a:tr>
              <a:tr h="33370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60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271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68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99020659"/>
                  </a:ext>
                </a:extLst>
              </a:tr>
              <a:tr h="33370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63.5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273.5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58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717792382"/>
                  </a:ext>
                </a:extLst>
              </a:tr>
            </a:tbl>
          </a:graphicData>
        </a:graphic>
      </p:graphicFrame>
      <p:sp>
        <p:nvSpPr>
          <p:cNvPr id="5" name="Double Bracket 4">
            <a:extLst>
              <a:ext uri="{FF2B5EF4-FFF2-40B4-BE49-F238E27FC236}">
                <a16:creationId xmlns:a16="http://schemas.microsoft.com/office/drawing/2014/main" id="{3F802238-FEF6-0DA6-4086-C72C95737DB5}"/>
              </a:ext>
            </a:extLst>
          </p:cNvPr>
          <p:cNvSpPr/>
          <p:nvPr/>
        </p:nvSpPr>
        <p:spPr>
          <a:xfrm>
            <a:off x="1052051" y="2635272"/>
            <a:ext cx="5417529" cy="2046390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87421C-8692-770B-73C5-22C71B43D069}"/>
              </a:ext>
            </a:extLst>
          </p:cNvPr>
          <p:cNvSpPr txBox="1"/>
          <p:nvPr/>
        </p:nvSpPr>
        <p:spPr>
          <a:xfrm>
            <a:off x="1632198" y="2227614"/>
            <a:ext cx="1307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Corn(Y</a:t>
            </a:r>
            <a:r>
              <a:rPr lang="en-US" baseline="-25000" dirty="0"/>
              <a:t>C</a:t>
            </a:r>
            <a:r>
              <a:rPr lang="en-US" dirty="0"/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96E651-AFBE-5C31-0A04-18882D7749A5}"/>
              </a:ext>
            </a:extLst>
          </p:cNvPr>
          <p:cNvSpPr txBox="1"/>
          <p:nvPr/>
        </p:nvSpPr>
        <p:spPr>
          <a:xfrm>
            <a:off x="3195482" y="2227614"/>
            <a:ext cx="1509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Soybean(Y</a:t>
            </a:r>
            <a:r>
              <a:rPr lang="en-US" baseline="-25000" dirty="0"/>
              <a:t>S</a:t>
            </a:r>
            <a:r>
              <a:rPr lang="en-US" dirty="0"/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FF0D66-5563-41D4-9580-DEBF0315423C}"/>
              </a:ext>
            </a:extLst>
          </p:cNvPr>
          <p:cNvSpPr txBox="1"/>
          <p:nvPr/>
        </p:nvSpPr>
        <p:spPr>
          <a:xfrm>
            <a:off x="4960328" y="2218778"/>
            <a:ext cx="1509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Wheat(Y</a:t>
            </a:r>
            <a:r>
              <a:rPr lang="en-US" baseline="-25000" dirty="0"/>
              <a:t>W</a:t>
            </a:r>
            <a:r>
              <a:rPr lang="en-US" dirty="0"/>
              <a:t>)</a:t>
            </a:r>
          </a:p>
        </p:txBody>
      </p:sp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3E041879-FAE8-BE98-10CD-7649263B27F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39961728"/>
              </p:ext>
            </p:extLst>
          </p:nvPr>
        </p:nvGraphicFramePr>
        <p:xfrm>
          <a:off x="6607231" y="2218777"/>
          <a:ext cx="4884133" cy="31429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1240157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390AB-7E35-CFDB-11D3-89A2DE3CE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800" dirty="0"/>
              <a:t>Predictor Matrix (environmental predictors) (x)</a:t>
            </a:r>
            <a:br>
              <a:rPr lang="en-US" dirty="0"/>
            </a:br>
            <a:r>
              <a:rPr lang="en-US" sz="3300" dirty="0"/>
              <a:t>2020-2025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880DC95-5331-DB22-0051-499F0931EB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0867406"/>
              </p:ext>
            </p:extLst>
          </p:nvPr>
        </p:nvGraphicFramePr>
        <p:xfrm>
          <a:off x="-635858" y="2543980"/>
          <a:ext cx="8127999" cy="2225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95319586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69166705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6372610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49.2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28.92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131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7076883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50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31.06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146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5151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47.5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27.25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124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7221968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50.6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26.82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134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5877366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51.5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36.95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140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1816814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49.7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33.59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172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4228524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D50B4D5-5B77-7CB7-620E-CB0ED4065F7A}"/>
              </a:ext>
            </a:extLst>
          </p:cNvPr>
          <p:cNvSpPr txBox="1"/>
          <p:nvPr/>
        </p:nvSpPr>
        <p:spPr>
          <a:xfrm>
            <a:off x="1209367" y="5506065"/>
            <a:ext cx="94782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Due to Soybeans not requiring nitrogen(therefore=0) and the lack of data for wheat (N/A) within that time period, we will use only the nitrogen data for corn.</a:t>
            </a:r>
          </a:p>
        </p:txBody>
      </p:sp>
      <p:sp>
        <p:nvSpPr>
          <p:cNvPr id="7" name="Double Bracket 6">
            <a:extLst>
              <a:ext uri="{FF2B5EF4-FFF2-40B4-BE49-F238E27FC236}">
                <a16:creationId xmlns:a16="http://schemas.microsoft.com/office/drawing/2014/main" id="{38498068-01B2-05D7-36D0-BEB3BD1AF397}"/>
              </a:ext>
            </a:extLst>
          </p:cNvPr>
          <p:cNvSpPr/>
          <p:nvPr/>
        </p:nvSpPr>
        <p:spPr>
          <a:xfrm>
            <a:off x="934065" y="2410969"/>
            <a:ext cx="7492181" cy="2585884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5BBA01-F212-FFF5-642E-083F1AEAA4A4}"/>
              </a:ext>
            </a:extLst>
          </p:cNvPr>
          <p:cNvSpPr txBox="1"/>
          <p:nvPr/>
        </p:nvSpPr>
        <p:spPr>
          <a:xfrm>
            <a:off x="1514168" y="2221993"/>
            <a:ext cx="1913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Precipitation (X</a:t>
            </a:r>
            <a:r>
              <a:rPr lang="en-US" baseline="-25000" dirty="0"/>
              <a:t>P</a:t>
            </a:r>
            <a:r>
              <a:rPr lang="en-US" dirty="0"/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80B674-5C0E-3981-8467-D9330725782A}"/>
              </a:ext>
            </a:extLst>
          </p:cNvPr>
          <p:cNvSpPr txBox="1"/>
          <p:nvPr/>
        </p:nvSpPr>
        <p:spPr>
          <a:xfrm>
            <a:off x="3799595" y="2188153"/>
            <a:ext cx="2246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Temperature (X</a:t>
            </a:r>
            <a:r>
              <a:rPr lang="en-US" baseline="-25000" dirty="0"/>
              <a:t>T</a:t>
            </a:r>
            <a:r>
              <a:rPr lang="en-US" dirty="0"/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422EC9-B522-39C9-2799-B5ACFD4DED09}"/>
              </a:ext>
            </a:extLst>
          </p:cNvPr>
          <p:cNvSpPr txBox="1"/>
          <p:nvPr/>
        </p:nvSpPr>
        <p:spPr>
          <a:xfrm>
            <a:off x="6540626" y="2181566"/>
            <a:ext cx="1885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Nitrogen (X</a:t>
            </a:r>
            <a:r>
              <a:rPr lang="en-US" baseline="-25000" dirty="0"/>
              <a:t>N</a:t>
            </a:r>
            <a:r>
              <a:rPr lang="en-US" dirty="0"/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33A5FB-8351-A089-ACF1-88BD50E2CD6A}"/>
              </a:ext>
            </a:extLst>
          </p:cNvPr>
          <p:cNvSpPr txBox="1"/>
          <p:nvPr/>
        </p:nvSpPr>
        <p:spPr>
          <a:xfrm>
            <a:off x="8672052" y="4227871"/>
            <a:ext cx="1848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6x3</a:t>
            </a:r>
          </a:p>
        </p:txBody>
      </p:sp>
    </p:spTree>
    <p:extLst>
      <p:ext uri="{BB962C8B-B14F-4D97-AF65-F5344CB8AC3E}">
        <p14:creationId xmlns:p14="http://schemas.microsoft.com/office/powerpoint/2010/main" val="24805346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372F2-BB65-D927-9670-E3B16538D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86BB5-01EE-9C57-6751-09D1307C2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Computing Y: The revenue</a:t>
            </a:r>
            <a:br>
              <a:rPr lang="en-US" dirty="0"/>
            </a:br>
            <a:r>
              <a:rPr lang="en-US" sz="3300" dirty="0"/>
              <a:t>2020-2025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6749E97-298E-73A8-F6DE-A8BFAD2D8AF2}"/>
              </a:ext>
            </a:extLst>
          </p:cNvPr>
          <p:cNvGraphicFramePr>
            <a:graphicFrameLocks noGrp="1"/>
          </p:cNvGraphicFramePr>
          <p:nvPr/>
        </p:nvGraphicFramePr>
        <p:xfrm>
          <a:off x="899855" y="2633765"/>
          <a:ext cx="3057423" cy="150433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9141">
                  <a:extLst>
                    <a:ext uri="{9D8B030D-6E8A-4147-A177-3AD203B41FA5}">
                      <a16:colId xmlns:a16="http://schemas.microsoft.com/office/drawing/2014/main" val="363296706"/>
                    </a:ext>
                  </a:extLst>
                </a:gridCol>
                <a:gridCol w="1019141">
                  <a:extLst>
                    <a:ext uri="{9D8B030D-6E8A-4147-A177-3AD203B41FA5}">
                      <a16:colId xmlns:a16="http://schemas.microsoft.com/office/drawing/2014/main" val="3365152705"/>
                    </a:ext>
                  </a:extLst>
                </a:gridCol>
                <a:gridCol w="1019141">
                  <a:extLst>
                    <a:ext uri="{9D8B030D-6E8A-4147-A177-3AD203B41FA5}">
                      <a16:colId xmlns:a16="http://schemas.microsoft.com/office/drawing/2014/main" val="698926433"/>
                    </a:ext>
                  </a:extLst>
                </a:gridCol>
              </a:tblGrid>
              <a:tr h="25072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54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231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19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267280611"/>
                  </a:ext>
                </a:extLst>
              </a:tr>
              <a:tr h="25072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</a:rPr>
                        <a:t>63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267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49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599469738"/>
                  </a:ext>
                </a:extLst>
              </a:tr>
              <a:tr h="25072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58.5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258.5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52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451845024"/>
                  </a:ext>
                </a:extLst>
              </a:tr>
              <a:tr h="25072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58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259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63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2745590"/>
                  </a:ext>
                </a:extLst>
              </a:tr>
              <a:tr h="25072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</a:rPr>
                        <a:t>60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271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68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99020659"/>
                  </a:ext>
                </a:extLst>
              </a:tr>
              <a:tr h="25072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63.5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273.5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58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717792382"/>
                  </a:ext>
                </a:extLst>
              </a:tr>
            </a:tbl>
          </a:graphicData>
        </a:graphic>
      </p:graphicFrame>
      <p:sp>
        <p:nvSpPr>
          <p:cNvPr id="5" name="Double Bracket 4">
            <a:extLst>
              <a:ext uri="{FF2B5EF4-FFF2-40B4-BE49-F238E27FC236}">
                <a16:creationId xmlns:a16="http://schemas.microsoft.com/office/drawing/2014/main" id="{C56DD4A2-AEB4-C869-1769-5516E5D144EA}"/>
              </a:ext>
            </a:extLst>
          </p:cNvPr>
          <p:cNvSpPr/>
          <p:nvPr/>
        </p:nvSpPr>
        <p:spPr>
          <a:xfrm>
            <a:off x="1052051" y="2635272"/>
            <a:ext cx="3333135" cy="1504334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62BF4B-75F3-65B6-2EDE-533392FFFA94}"/>
              </a:ext>
            </a:extLst>
          </p:cNvPr>
          <p:cNvSpPr txBox="1"/>
          <p:nvPr/>
        </p:nvSpPr>
        <p:spPr>
          <a:xfrm>
            <a:off x="1120877" y="2220287"/>
            <a:ext cx="1307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Corn(Y</a:t>
            </a:r>
            <a:r>
              <a:rPr lang="en-US" baseline="-25000" dirty="0"/>
              <a:t>C</a:t>
            </a:r>
            <a:r>
              <a:rPr lang="en-US" dirty="0"/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9D6E6A-B9B6-FB41-E6EA-15AA4B118A89}"/>
              </a:ext>
            </a:extLst>
          </p:cNvPr>
          <p:cNvSpPr txBox="1"/>
          <p:nvPr/>
        </p:nvSpPr>
        <p:spPr>
          <a:xfrm>
            <a:off x="2263057" y="2218778"/>
            <a:ext cx="1509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Soybean(Y</a:t>
            </a:r>
            <a:r>
              <a:rPr lang="en-US" baseline="-25000" dirty="0"/>
              <a:t>S</a:t>
            </a:r>
            <a:r>
              <a:rPr lang="en-US" dirty="0"/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255BA4-AB00-5252-82BF-8471F8B844C8}"/>
              </a:ext>
            </a:extLst>
          </p:cNvPr>
          <p:cNvSpPr txBox="1"/>
          <p:nvPr/>
        </p:nvSpPr>
        <p:spPr>
          <a:xfrm>
            <a:off x="3630560" y="2218778"/>
            <a:ext cx="1509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Wheat(Y</a:t>
            </a:r>
            <a:r>
              <a:rPr lang="en-US" baseline="-25000" dirty="0"/>
              <a:t>W</a:t>
            </a:r>
            <a:r>
              <a:rPr lang="en-US" dirty="0"/>
              <a:t>)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DC5C9E5-63B3-CD72-DEA1-F820176F43F8}"/>
              </a:ext>
            </a:extLst>
          </p:cNvPr>
          <p:cNvGraphicFramePr>
            <a:graphicFrameLocks noGrp="1"/>
          </p:cNvGraphicFramePr>
          <p:nvPr/>
        </p:nvGraphicFramePr>
        <p:xfrm>
          <a:off x="521109" y="4439262"/>
          <a:ext cx="4091040" cy="150433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2760">
                  <a:extLst>
                    <a:ext uri="{9D8B030D-6E8A-4147-A177-3AD203B41FA5}">
                      <a16:colId xmlns:a16="http://schemas.microsoft.com/office/drawing/2014/main" val="3938305147"/>
                    </a:ext>
                  </a:extLst>
                </a:gridCol>
                <a:gridCol w="1022760">
                  <a:extLst>
                    <a:ext uri="{9D8B030D-6E8A-4147-A177-3AD203B41FA5}">
                      <a16:colId xmlns:a16="http://schemas.microsoft.com/office/drawing/2014/main" val="2775814833"/>
                    </a:ext>
                  </a:extLst>
                </a:gridCol>
                <a:gridCol w="1022760">
                  <a:extLst>
                    <a:ext uri="{9D8B030D-6E8A-4147-A177-3AD203B41FA5}">
                      <a16:colId xmlns:a16="http://schemas.microsoft.com/office/drawing/2014/main" val="340900271"/>
                    </a:ext>
                  </a:extLst>
                </a:gridCol>
                <a:gridCol w="1022760">
                  <a:extLst>
                    <a:ext uri="{9D8B030D-6E8A-4147-A177-3AD203B41FA5}">
                      <a16:colId xmlns:a16="http://schemas.microsoft.com/office/drawing/2014/main" val="3985695565"/>
                    </a:ext>
                  </a:extLst>
                </a:gridCol>
              </a:tblGrid>
              <a:tr h="25072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$3.81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$11.1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$5.05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$3.81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768949640"/>
                  </a:ext>
                </a:extLst>
              </a:tr>
              <a:tr h="25072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$5.9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$13.1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$7.63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$5.9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695524154"/>
                  </a:ext>
                </a:extLst>
              </a:tr>
              <a:tr h="25072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$6.4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$14.1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$8.83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$6.4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972907153"/>
                  </a:ext>
                </a:extLst>
              </a:tr>
              <a:tr h="25072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$5.5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$12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$6.96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$5.5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369223389"/>
                  </a:ext>
                </a:extLst>
              </a:tr>
              <a:tr h="25072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$5.5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$10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$6.72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$5.5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650507695"/>
                  </a:ext>
                </a:extLst>
              </a:tr>
              <a:tr h="25072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$4.3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$10.5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$5.1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$4.3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977688103"/>
                  </a:ext>
                </a:extLst>
              </a:tr>
            </a:tbl>
          </a:graphicData>
        </a:graphic>
      </p:graphicFrame>
      <p:sp>
        <p:nvSpPr>
          <p:cNvPr id="10" name="Double Bracket 9">
            <a:extLst>
              <a:ext uri="{FF2B5EF4-FFF2-40B4-BE49-F238E27FC236}">
                <a16:creationId xmlns:a16="http://schemas.microsoft.com/office/drawing/2014/main" id="{6446A6DF-739D-0E63-C628-C8D333693C12}"/>
              </a:ext>
            </a:extLst>
          </p:cNvPr>
          <p:cNvSpPr/>
          <p:nvPr/>
        </p:nvSpPr>
        <p:spPr>
          <a:xfrm>
            <a:off x="919519" y="4484915"/>
            <a:ext cx="3814917" cy="1504334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10EC7A-119D-4707-2765-FBD118095776}"/>
              </a:ext>
            </a:extLst>
          </p:cNvPr>
          <p:cNvSpPr txBox="1"/>
          <p:nvPr/>
        </p:nvSpPr>
        <p:spPr>
          <a:xfrm>
            <a:off x="1052051" y="4138097"/>
            <a:ext cx="1111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Prices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B4791539-0024-3DAF-65F1-720C1B160D00}"/>
              </a:ext>
            </a:extLst>
          </p:cNvPr>
          <p:cNvGraphicFramePr>
            <a:graphicFrameLocks noGrp="1"/>
          </p:cNvGraphicFramePr>
          <p:nvPr/>
        </p:nvGraphicFramePr>
        <p:xfrm>
          <a:off x="6842026" y="2561674"/>
          <a:ext cx="1929580" cy="173465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29580">
                  <a:extLst>
                    <a:ext uri="{9D8B030D-6E8A-4147-A177-3AD203B41FA5}">
                      <a16:colId xmlns:a16="http://schemas.microsoft.com/office/drawing/2014/main" val="4017184449"/>
                    </a:ext>
                  </a:extLst>
                </a:gridCol>
              </a:tblGrid>
              <a:tr h="43366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1369.72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861290580"/>
                  </a:ext>
                </a:extLst>
              </a:tr>
              <a:tr h="43366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2402.77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150826428"/>
                  </a:ext>
                </a:extLst>
              </a:tr>
              <a:tr h="43366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2564.01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47547518"/>
                  </a:ext>
                </a:extLst>
              </a:tr>
              <a:tr h="43366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2217.46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214035267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B96909B2-1A1C-16B2-AF25-857D07E4FCF2}"/>
              </a:ext>
            </a:extLst>
          </p:cNvPr>
          <p:cNvSpPr txBox="1"/>
          <p:nvPr/>
        </p:nvSpPr>
        <p:spPr>
          <a:xfrm>
            <a:off x="6833419" y="3429000"/>
            <a:ext cx="884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Y=</a:t>
            </a:r>
          </a:p>
        </p:txBody>
      </p:sp>
      <p:sp>
        <p:nvSpPr>
          <p:cNvPr id="14" name="Double Bracket 13">
            <a:extLst>
              <a:ext uri="{FF2B5EF4-FFF2-40B4-BE49-F238E27FC236}">
                <a16:creationId xmlns:a16="http://schemas.microsoft.com/office/drawing/2014/main" id="{7303F82D-3432-91D3-074D-11A3DAA030B6}"/>
              </a:ext>
            </a:extLst>
          </p:cNvPr>
          <p:cNvSpPr/>
          <p:nvPr/>
        </p:nvSpPr>
        <p:spPr>
          <a:xfrm>
            <a:off x="7579853" y="2661165"/>
            <a:ext cx="1615560" cy="1846264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927678-A5C1-5B05-A92F-54EF07BA38D5}"/>
              </a:ext>
            </a:extLst>
          </p:cNvPr>
          <p:cNvSpPr txBox="1"/>
          <p:nvPr/>
        </p:nvSpPr>
        <p:spPr>
          <a:xfrm>
            <a:off x="7866423" y="2233380"/>
            <a:ext cx="2857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Revenue</a:t>
            </a:r>
          </a:p>
        </p:txBody>
      </p:sp>
    </p:spTree>
    <p:extLst>
      <p:ext uri="{BB962C8B-B14F-4D97-AF65-F5344CB8AC3E}">
        <p14:creationId xmlns:p14="http://schemas.microsoft.com/office/powerpoint/2010/main" val="11871152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DF6D5-33CD-B367-961E-4CA4447D9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367" y="772667"/>
            <a:ext cx="10691265" cy="1307592"/>
          </a:xfrm>
        </p:spPr>
        <p:txBody>
          <a:bodyPr>
            <a:normAutofit fontScale="90000"/>
          </a:bodyPr>
          <a:lstStyle/>
          <a:p>
            <a:r>
              <a:rPr lang="en-US" dirty="0"/>
              <a:t>Finding B (Coefficients)</a:t>
            </a:r>
            <a:br>
              <a:rPr lang="en-US" dirty="0"/>
            </a:br>
            <a:r>
              <a:rPr lang="en-US" dirty="0"/>
              <a:t>B=(X</a:t>
            </a:r>
            <a:r>
              <a:rPr lang="en-US" baseline="30000" dirty="0"/>
              <a:t>T</a:t>
            </a:r>
            <a:r>
              <a:rPr lang="en-US" dirty="0"/>
              <a:t>X)</a:t>
            </a:r>
            <a:r>
              <a:rPr lang="en-US" baseline="30000" dirty="0"/>
              <a:t>-1</a:t>
            </a:r>
            <a:r>
              <a:rPr lang="en-US" dirty="0"/>
              <a:t>X</a:t>
            </a:r>
            <a:r>
              <a:rPr lang="en-US" baseline="30000" dirty="0"/>
              <a:t>t</a:t>
            </a:r>
            <a:r>
              <a:rPr lang="en-US" dirty="0"/>
              <a:t>y</a:t>
            </a:r>
            <a:endParaRPr lang="en-US" baseline="300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FE9CA68-8397-D469-1F0E-021B15B9F7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5382458"/>
              </p:ext>
            </p:extLst>
          </p:nvPr>
        </p:nvGraphicFramePr>
        <p:xfrm>
          <a:off x="2074972" y="3617977"/>
          <a:ext cx="4660125" cy="18585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53375">
                  <a:extLst>
                    <a:ext uri="{9D8B030D-6E8A-4147-A177-3AD203B41FA5}">
                      <a16:colId xmlns:a16="http://schemas.microsoft.com/office/drawing/2014/main" val="953195865"/>
                    </a:ext>
                  </a:extLst>
                </a:gridCol>
                <a:gridCol w="1553375">
                  <a:extLst>
                    <a:ext uri="{9D8B030D-6E8A-4147-A177-3AD203B41FA5}">
                      <a16:colId xmlns:a16="http://schemas.microsoft.com/office/drawing/2014/main" val="2691667054"/>
                    </a:ext>
                  </a:extLst>
                </a:gridCol>
                <a:gridCol w="1553375">
                  <a:extLst>
                    <a:ext uri="{9D8B030D-6E8A-4147-A177-3AD203B41FA5}">
                      <a16:colId xmlns:a16="http://schemas.microsoft.com/office/drawing/2014/main" val="2637261088"/>
                    </a:ext>
                  </a:extLst>
                </a:gridCol>
              </a:tblGrid>
              <a:tr h="30976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49.2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28.92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131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707688342"/>
                  </a:ext>
                </a:extLst>
              </a:tr>
              <a:tr h="30976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50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31.06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146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5151103"/>
                  </a:ext>
                </a:extLst>
              </a:tr>
              <a:tr h="30976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47.5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27.25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124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722196870"/>
                  </a:ext>
                </a:extLst>
              </a:tr>
              <a:tr h="30976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50.6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26.82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134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587736619"/>
                  </a:ext>
                </a:extLst>
              </a:tr>
              <a:tr h="30976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51.5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36.95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140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181681446"/>
                  </a:ext>
                </a:extLst>
              </a:tr>
              <a:tr h="30976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49.7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33.59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172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42285243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195578A-3D6E-3109-6694-EEABD75976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8887757"/>
              </p:ext>
            </p:extLst>
          </p:nvPr>
        </p:nvGraphicFramePr>
        <p:xfrm>
          <a:off x="2149986" y="2263877"/>
          <a:ext cx="8128002" cy="1112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02701210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43275897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96242465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414848612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40949605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9783414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49.2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49.7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27968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28.92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31.06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27.25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26.82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36.95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33.59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8844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050437"/>
                  </a:ext>
                </a:extLst>
              </a:tr>
            </a:tbl>
          </a:graphicData>
        </a:graphic>
      </p:graphicFrame>
      <p:sp>
        <p:nvSpPr>
          <p:cNvPr id="8" name="Double Bracket 7">
            <a:extLst>
              <a:ext uri="{FF2B5EF4-FFF2-40B4-BE49-F238E27FC236}">
                <a16:creationId xmlns:a16="http://schemas.microsoft.com/office/drawing/2014/main" id="{7C4D00B9-F80D-36DD-BE37-BC88547971AC}"/>
              </a:ext>
            </a:extLst>
          </p:cNvPr>
          <p:cNvSpPr/>
          <p:nvPr/>
        </p:nvSpPr>
        <p:spPr>
          <a:xfrm>
            <a:off x="2031999" y="1995948"/>
            <a:ext cx="7728154" cy="1456674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Double Bracket 8">
            <a:extLst>
              <a:ext uri="{FF2B5EF4-FFF2-40B4-BE49-F238E27FC236}">
                <a16:creationId xmlns:a16="http://schemas.microsoft.com/office/drawing/2014/main" id="{C5FB7233-A59A-01B3-ACE6-180B2FD22F37}"/>
              </a:ext>
            </a:extLst>
          </p:cNvPr>
          <p:cNvSpPr/>
          <p:nvPr/>
        </p:nvSpPr>
        <p:spPr>
          <a:xfrm>
            <a:off x="1818968" y="3523489"/>
            <a:ext cx="5083278" cy="2225040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B655B0-AA2F-CDDF-96E6-54BA70ADA098}"/>
              </a:ext>
            </a:extLst>
          </p:cNvPr>
          <p:cNvSpPr txBox="1"/>
          <p:nvPr/>
        </p:nvSpPr>
        <p:spPr>
          <a:xfrm>
            <a:off x="1391264" y="2617208"/>
            <a:ext cx="855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  <a:r>
              <a:rPr lang="en-US" baseline="30000" dirty="0"/>
              <a:t>T</a:t>
            </a:r>
            <a:r>
              <a:rPr lang="en-US" dirty="0"/>
              <a:t>=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9E5921-74D2-9267-412A-35B8531369F1}"/>
              </a:ext>
            </a:extLst>
          </p:cNvPr>
          <p:cNvSpPr txBox="1"/>
          <p:nvPr/>
        </p:nvSpPr>
        <p:spPr>
          <a:xfrm>
            <a:off x="1366683" y="4393244"/>
            <a:ext cx="852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X=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B8C956A7-EA05-4D24-8154-A64F2EAB8E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515562"/>
              </p:ext>
            </p:extLst>
          </p:nvPr>
        </p:nvGraphicFramePr>
        <p:xfrm>
          <a:off x="2219545" y="3650056"/>
          <a:ext cx="445731" cy="192100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5731">
                  <a:extLst>
                    <a:ext uri="{9D8B030D-6E8A-4147-A177-3AD203B41FA5}">
                      <a16:colId xmlns:a16="http://schemas.microsoft.com/office/drawing/2014/main" val="183648869"/>
                    </a:ext>
                  </a:extLst>
                </a:gridCol>
              </a:tblGrid>
              <a:tr h="320167"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3451310"/>
                  </a:ext>
                </a:extLst>
              </a:tr>
              <a:tr h="320167"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7875145"/>
                  </a:ext>
                </a:extLst>
              </a:tr>
              <a:tr h="320167"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5207964"/>
                  </a:ext>
                </a:extLst>
              </a:tr>
              <a:tr h="320167"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759536"/>
                  </a:ext>
                </a:extLst>
              </a:tr>
              <a:tr h="320167"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7010178"/>
                  </a:ext>
                </a:extLst>
              </a:tr>
              <a:tr h="320167"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0077227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2CC7A724-EEEF-8252-2491-CC15195294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8254456"/>
              </p:ext>
            </p:extLst>
          </p:nvPr>
        </p:nvGraphicFramePr>
        <p:xfrm>
          <a:off x="2219545" y="1963869"/>
          <a:ext cx="8128002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191964921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913756698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78516329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44641324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66167122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3128449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3969218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4B2BB4C5-7979-6A96-9B0D-D0BCEF147B1C}"/>
              </a:ext>
            </a:extLst>
          </p:cNvPr>
          <p:cNvSpPr txBox="1"/>
          <p:nvPr/>
        </p:nvSpPr>
        <p:spPr>
          <a:xfrm>
            <a:off x="12572" y="3338823"/>
            <a:ext cx="13069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Multiplied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51A9ECA-078A-1697-A258-7FFDC3C390F1}"/>
              </a:ext>
            </a:extLst>
          </p:cNvPr>
          <p:cNvCxnSpPr>
            <a:stCxn id="10" idx="1"/>
            <a:endCxn id="14" idx="0"/>
          </p:cNvCxnSpPr>
          <p:nvPr/>
        </p:nvCxnSpPr>
        <p:spPr>
          <a:xfrm flipH="1">
            <a:off x="666050" y="2801874"/>
            <a:ext cx="725214" cy="5369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C3B80A3-52F6-2AD3-6217-5B10261EB021}"/>
              </a:ext>
            </a:extLst>
          </p:cNvPr>
          <p:cNvCxnSpPr>
            <a:stCxn id="14" idx="2"/>
            <a:endCxn id="11" idx="1"/>
          </p:cNvCxnSpPr>
          <p:nvPr/>
        </p:nvCxnSpPr>
        <p:spPr>
          <a:xfrm>
            <a:off x="666050" y="3708155"/>
            <a:ext cx="700633" cy="8697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BCAC934-7AB2-5747-26AC-1E0F8B4AC16D}"/>
              </a:ext>
            </a:extLst>
          </p:cNvPr>
          <p:cNvSpPr txBox="1"/>
          <p:nvPr/>
        </p:nvSpPr>
        <p:spPr>
          <a:xfrm>
            <a:off x="7135674" y="3661724"/>
            <a:ext cx="9733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(X</a:t>
            </a:r>
            <a:r>
              <a:rPr lang="en-US" baseline="30000" dirty="0"/>
              <a:t>T</a:t>
            </a:r>
            <a:r>
              <a:rPr lang="en-US" dirty="0"/>
              <a:t>X)=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DCB7277E-618E-3A56-C4E7-5EBADC2DBD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3103233"/>
              </p:ext>
            </p:extLst>
          </p:nvPr>
        </p:nvGraphicFramePr>
        <p:xfrm>
          <a:off x="8108785" y="3482416"/>
          <a:ext cx="3727340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31835">
                  <a:extLst>
                    <a:ext uri="{9D8B030D-6E8A-4147-A177-3AD203B41FA5}">
                      <a16:colId xmlns:a16="http://schemas.microsoft.com/office/drawing/2014/main" val="586082365"/>
                    </a:ext>
                  </a:extLst>
                </a:gridCol>
                <a:gridCol w="931835">
                  <a:extLst>
                    <a:ext uri="{9D8B030D-6E8A-4147-A177-3AD203B41FA5}">
                      <a16:colId xmlns:a16="http://schemas.microsoft.com/office/drawing/2014/main" val="477030704"/>
                    </a:ext>
                  </a:extLst>
                </a:gridCol>
                <a:gridCol w="931835">
                  <a:extLst>
                    <a:ext uri="{9D8B030D-6E8A-4147-A177-3AD203B41FA5}">
                      <a16:colId xmlns:a16="http://schemas.microsoft.com/office/drawing/2014/main" val="211565823"/>
                    </a:ext>
                  </a:extLst>
                </a:gridCol>
                <a:gridCol w="931835">
                  <a:extLst>
                    <a:ext uri="{9D8B030D-6E8A-4147-A177-3AD203B41FA5}">
                      <a16:colId xmlns:a16="http://schemas.microsoft.com/office/drawing/2014/main" val="3097835978"/>
                    </a:ext>
                  </a:extLst>
                </a:gridCol>
              </a:tblGrid>
              <a:tr h="236396">
                <a:tc>
                  <a:txBody>
                    <a:bodyPr/>
                    <a:lstStyle/>
                    <a:p>
                      <a:r>
                        <a:rPr lang="en-US" sz="12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298.5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184.59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847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39204832"/>
                  </a:ext>
                </a:extLst>
              </a:tr>
              <a:tr h="236396">
                <a:tc>
                  <a:txBody>
                    <a:bodyPr/>
                    <a:lstStyle/>
                    <a:p>
                      <a:r>
                        <a:rPr lang="en-US" sz="1200" dirty="0"/>
                        <a:t>298.5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14859.59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9199.679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42174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571349139"/>
                  </a:ext>
                </a:extLst>
              </a:tr>
              <a:tr h="236396">
                <a:tc>
                  <a:txBody>
                    <a:bodyPr/>
                    <a:lstStyle/>
                    <a:p>
                      <a:r>
                        <a:rPr lang="en-US" sz="1200" dirty="0"/>
                        <a:t>184.59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9199.679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5756.556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26246.64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012138497"/>
                  </a:ext>
                </a:extLst>
              </a:tr>
              <a:tr h="236396">
                <a:tc>
                  <a:txBody>
                    <a:bodyPr/>
                    <a:lstStyle/>
                    <a:p>
                      <a:r>
                        <a:rPr lang="en-US" sz="1200" dirty="0"/>
                        <a:t>847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42174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26246.64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120993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81729442"/>
                  </a:ext>
                </a:extLst>
              </a:tr>
            </a:tbl>
          </a:graphicData>
        </a:graphic>
      </p:graphicFrame>
      <p:sp>
        <p:nvSpPr>
          <p:cNvPr id="22" name="Double Bracket 21">
            <a:extLst>
              <a:ext uri="{FF2B5EF4-FFF2-40B4-BE49-F238E27FC236}">
                <a16:creationId xmlns:a16="http://schemas.microsoft.com/office/drawing/2014/main" id="{65650F2B-7005-5D25-7D45-D5B6DD2C7279}"/>
              </a:ext>
            </a:extLst>
          </p:cNvPr>
          <p:cNvSpPr/>
          <p:nvPr/>
        </p:nvSpPr>
        <p:spPr>
          <a:xfrm>
            <a:off x="8013290" y="3482416"/>
            <a:ext cx="4060723" cy="1112520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1247ED9-7767-700D-E0DE-752B5B7027FC}"/>
              </a:ext>
            </a:extLst>
          </p:cNvPr>
          <p:cNvSpPr txBox="1"/>
          <p:nvPr/>
        </p:nvSpPr>
        <p:spPr>
          <a:xfrm>
            <a:off x="7041534" y="5049327"/>
            <a:ext cx="1052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(X</a:t>
            </a:r>
            <a:r>
              <a:rPr lang="en-US" baseline="30000" dirty="0"/>
              <a:t>T</a:t>
            </a:r>
            <a:r>
              <a:rPr lang="en-US" dirty="0"/>
              <a:t>X)</a:t>
            </a:r>
            <a:r>
              <a:rPr lang="en-US" baseline="30000" dirty="0"/>
              <a:t>-1</a:t>
            </a:r>
            <a:r>
              <a:rPr lang="en-US" dirty="0"/>
              <a:t>=</a:t>
            </a: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FE74CDC2-6AE3-D90F-5CB6-AD11840BCB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4085896"/>
              </p:ext>
            </p:extLst>
          </p:nvPr>
        </p:nvGraphicFramePr>
        <p:xfrm>
          <a:off x="7567559" y="4828827"/>
          <a:ext cx="4339304" cy="91381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4826">
                  <a:extLst>
                    <a:ext uri="{9D8B030D-6E8A-4147-A177-3AD203B41FA5}">
                      <a16:colId xmlns:a16="http://schemas.microsoft.com/office/drawing/2014/main" val="37654236"/>
                    </a:ext>
                  </a:extLst>
                </a:gridCol>
                <a:gridCol w="1084826">
                  <a:extLst>
                    <a:ext uri="{9D8B030D-6E8A-4147-A177-3AD203B41FA5}">
                      <a16:colId xmlns:a16="http://schemas.microsoft.com/office/drawing/2014/main" val="3217884953"/>
                    </a:ext>
                  </a:extLst>
                </a:gridCol>
                <a:gridCol w="1084826">
                  <a:extLst>
                    <a:ext uri="{9D8B030D-6E8A-4147-A177-3AD203B41FA5}">
                      <a16:colId xmlns:a16="http://schemas.microsoft.com/office/drawing/2014/main" val="321748323"/>
                    </a:ext>
                  </a:extLst>
                </a:gridCol>
                <a:gridCol w="1084826">
                  <a:extLst>
                    <a:ext uri="{9D8B030D-6E8A-4147-A177-3AD203B41FA5}">
                      <a16:colId xmlns:a16="http://schemas.microsoft.com/office/drawing/2014/main" val="3684154224"/>
                    </a:ext>
                  </a:extLst>
                </a:gridCol>
              </a:tblGrid>
              <a:tr h="22845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345.8576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-7.55298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1.43352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-0.0994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106268927"/>
                  </a:ext>
                </a:extLst>
              </a:tr>
              <a:tr h="22845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-7.55298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0.17343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-0.03818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0.000705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746891046"/>
                  </a:ext>
                </a:extLst>
              </a:tr>
              <a:tr h="22845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1.43352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-0.03818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0.027396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-0.00267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5473237"/>
                  </a:ext>
                </a:extLst>
              </a:tr>
              <a:tr h="22845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-0.0994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0.000705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-0.00267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0.001038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331892785"/>
                  </a:ext>
                </a:extLst>
              </a:tr>
            </a:tbl>
          </a:graphicData>
        </a:graphic>
      </p:graphicFrame>
      <p:sp>
        <p:nvSpPr>
          <p:cNvPr id="25" name="Double Bracket 24">
            <a:extLst>
              <a:ext uri="{FF2B5EF4-FFF2-40B4-BE49-F238E27FC236}">
                <a16:creationId xmlns:a16="http://schemas.microsoft.com/office/drawing/2014/main" id="{F6FC9A1D-FDD0-4267-1030-8C024A8BB71C}"/>
              </a:ext>
            </a:extLst>
          </p:cNvPr>
          <p:cNvSpPr/>
          <p:nvPr/>
        </p:nvSpPr>
        <p:spPr>
          <a:xfrm>
            <a:off x="8013290" y="4762576"/>
            <a:ext cx="4060723" cy="1112520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5513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1499F-344A-8A42-DCEF-12F8B3406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Finding B (Coefficients) Cont’d</a:t>
            </a:r>
            <a:br>
              <a:rPr lang="en-US" dirty="0"/>
            </a:br>
            <a:r>
              <a:rPr lang="en-US" dirty="0"/>
              <a:t>B=(X</a:t>
            </a:r>
            <a:r>
              <a:rPr lang="en-US" baseline="30000" dirty="0"/>
              <a:t>T</a:t>
            </a:r>
            <a:r>
              <a:rPr lang="en-US" dirty="0"/>
              <a:t>X)</a:t>
            </a:r>
            <a:r>
              <a:rPr lang="en-US" baseline="30000" dirty="0"/>
              <a:t>-1</a:t>
            </a:r>
            <a:r>
              <a:rPr lang="en-US" dirty="0"/>
              <a:t>X</a:t>
            </a:r>
            <a:r>
              <a:rPr lang="en-US" baseline="30000" dirty="0"/>
              <a:t>t</a:t>
            </a:r>
            <a:r>
              <a:rPr lang="en-US" dirty="0"/>
              <a:t>y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E8D431C-12EC-9A5B-309D-B84CA1F49B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336576"/>
              </p:ext>
            </p:extLst>
          </p:nvPr>
        </p:nvGraphicFramePr>
        <p:xfrm>
          <a:off x="1569881" y="2665730"/>
          <a:ext cx="4339304" cy="91381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4826">
                  <a:extLst>
                    <a:ext uri="{9D8B030D-6E8A-4147-A177-3AD203B41FA5}">
                      <a16:colId xmlns:a16="http://schemas.microsoft.com/office/drawing/2014/main" val="37654236"/>
                    </a:ext>
                  </a:extLst>
                </a:gridCol>
                <a:gridCol w="1084826">
                  <a:extLst>
                    <a:ext uri="{9D8B030D-6E8A-4147-A177-3AD203B41FA5}">
                      <a16:colId xmlns:a16="http://schemas.microsoft.com/office/drawing/2014/main" val="3217884953"/>
                    </a:ext>
                  </a:extLst>
                </a:gridCol>
                <a:gridCol w="1084826">
                  <a:extLst>
                    <a:ext uri="{9D8B030D-6E8A-4147-A177-3AD203B41FA5}">
                      <a16:colId xmlns:a16="http://schemas.microsoft.com/office/drawing/2014/main" val="321748323"/>
                    </a:ext>
                  </a:extLst>
                </a:gridCol>
                <a:gridCol w="1084826">
                  <a:extLst>
                    <a:ext uri="{9D8B030D-6E8A-4147-A177-3AD203B41FA5}">
                      <a16:colId xmlns:a16="http://schemas.microsoft.com/office/drawing/2014/main" val="3684154224"/>
                    </a:ext>
                  </a:extLst>
                </a:gridCol>
              </a:tblGrid>
              <a:tr h="22845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345.8576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-7.55298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1.43352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-0.0994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106268927"/>
                  </a:ext>
                </a:extLst>
              </a:tr>
              <a:tr h="22845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-7.55298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0.17343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-0.03818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0.000705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746891046"/>
                  </a:ext>
                </a:extLst>
              </a:tr>
              <a:tr h="22845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1.43352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-0.03818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0.027396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-0.00267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5473237"/>
                  </a:ext>
                </a:extLst>
              </a:tr>
              <a:tr h="22845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-0.0994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0.000705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-0.00267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0.001038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331892785"/>
                  </a:ext>
                </a:extLst>
              </a:tr>
            </a:tbl>
          </a:graphicData>
        </a:graphic>
      </p:graphicFrame>
      <p:sp>
        <p:nvSpPr>
          <p:cNvPr id="6" name="Double Bracket 5">
            <a:extLst>
              <a:ext uri="{FF2B5EF4-FFF2-40B4-BE49-F238E27FC236}">
                <a16:creationId xmlns:a16="http://schemas.microsoft.com/office/drawing/2014/main" id="{B712FD98-B3BB-13B1-8D30-9B6DE9905EDD}"/>
              </a:ext>
            </a:extLst>
          </p:cNvPr>
          <p:cNvSpPr/>
          <p:nvPr/>
        </p:nvSpPr>
        <p:spPr>
          <a:xfrm>
            <a:off x="1985544" y="2566378"/>
            <a:ext cx="4060723" cy="1112520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9CFCC8-6B47-ECB6-113C-F3E7C4A23076}"/>
              </a:ext>
            </a:extLst>
          </p:cNvPr>
          <p:cNvSpPr txBox="1"/>
          <p:nvPr/>
        </p:nvSpPr>
        <p:spPr>
          <a:xfrm>
            <a:off x="906773" y="2937972"/>
            <a:ext cx="1052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(X</a:t>
            </a:r>
            <a:r>
              <a:rPr lang="en-US" baseline="30000" dirty="0"/>
              <a:t>T</a:t>
            </a:r>
            <a:r>
              <a:rPr lang="en-US" dirty="0"/>
              <a:t>X)</a:t>
            </a:r>
            <a:r>
              <a:rPr lang="en-US" baseline="30000" dirty="0"/>
              <a:t>-1</a:t>
            </a:r>
            <a:r>
              <a:rPr lang="en-US" dirty="0"/>
              <a:t>=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21F7FF-D3B0-A3D7-18B0-A59355A9341D}"/>
              </a:ext>
            </a:extLst>
          </p:cNvPr>
          <p:cNvSpPr txBox="1"/>
          <p:nvPr/>
        </p:nvSpPr>
        <p:spPr>
          <a:xfrm>
            <a:off x="933493" y="4598980"/>
            <a:ext cx="1052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  <a:r>
              <a:rPr lang="en-US" baseline="30000" dirty="0"/>
              <a:t>T</a:t>
            </a:r>
            <a:r>
              <a:rPr lang="en-US" dirty="0"/>
              <a:t>=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C914F57-7B87-F156-73BB-32C9E4050F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2423098"/>
              </p:ext>
            </p:extLst>
          </p:nvPr>
        </p:nvGraphicFramePr>
        <p:xfrm>
          <a:off x="1845184" y="4109352"/>
          <a:ext cx="4201086" cy="243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00181">
                  <a:extLst>
                    <a:ext uri="{9D8B030D-6E8A-4147-A177-3AD203B41FA5}">
                      <a16:colId xmlns:a16="http://schemas.microsoft.com/office/drawing/2014/main" val="1919649219"/>
                    </a:ext>
                  </a:extLst>
                </a:gridCol>
                <a:gridCol w="700181">
                  <a:extLst>
                    <a:ext uri="{9D8B030D-6E8A-4147-A177-3AD203B41FA5}">
                      <a16:colId xmlns:a16="http://schemas.microsoft.com/office/drawing/2014/main" val="1913756698"/>
                    </a:ext>
                  </a:extLst>
                </a:gridCol>
                <a:gridCol w="700181">
                  <a:extLst>
                    <a:ext uri="{9D8B030D-6E8A-4147-A177-3AD203B41FA5}">
                      <a16:colId xmlns:a16="http://schemas.microsoft.com/office/drawing/2014/main" val="785163290"/>
                    </a:ext>
                  </a:extLst>
                </a:gridCol>
                <a:gridCol w="700181">
                  <a:extLst>
                    <a:ext uri="{9D8B030D-6E8A-4147-A177-3AD203B41FA5}">
                      <a16:colId xmlns:a16="http://schemas.microsoft.com/office/drawing/2014/main" val="2446413247"/>
                    </a:ext>
                  </a:extLst>
                </a:gridCol>
                <a:gridCol w="700181">
                  <a:extLst>
                    <a:ext uri="{9D8B030D-6E8A-4147-A177-3AD203B41FA5}">
                      <a16:colId xmlns:a16="http://schemas.microsoft.com/office/drawing/2014/main" val="3661671220"/>
                    </a:ext>
                  </a:extLst>
                </a:gridCol>
                <a:gridCol w="700181">
                  <a:extLst>
                    <a:ext uri="{9D8B030D-6E8A-4147-A177-3AD203B41FA5}">
                      <a16:colId xmlns:a16="http://schemas.microsoft.com/office/drawing/2014/main" val="1312844958"/>
                    </a:ext>
                  </a:extLst>
                </a:gridCol>
              </a:tblGrid>
              <a:tr h="186174"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3969218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48AABA3-E418-3C69-BC9B-C54BC08D6A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2916567"/>
              </p:ext>
            </p:extLst>
          </p:nvPr>
        </p:nvGraphicFramePr>
        <p:xfrm>
          <a:off x="1756696" y="4394878"/>
          <a:ext cx="4064004" cy="10720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7334">
                  <a:extLst>
                    <a:ext uri="{9D8B030D-6E8A-4147-A177-3AD203B41FA5}">
                      <a16:colId xmlns:a16="http://schemas.microsoft.com/office/drawing/2014/main" val="2027012101"/>
                    </a:ext>
                  </a:extLst>
                </a:gridCol>
                <a:gridCol w="677334">
                  <a:extLst>
                    <a:ext uri="{9D8B030D-6E8A-4147-A177-3AD203B41FA5}">
                      <a16:colId xmlns:a16="http://schemas.microsoft.com/office/drawing/2014/main" val="3432758972"/>
                    </a:ext>
                  </a:extLst>
                </a:gridCol>
                <a:gridCol w="677334">
                  <a:extLst>
                    <a:ext uri="{9D8B030D-6E8A-4147-A177-3AD203B41FA5}">
                      <a16:colId xmlns:a16="http://schemas.microsoft.com/office/drawing/2014/main" val="1962424652"/>
                    </a:ext>
                  </a:extLst>
                </a:gridCol>
                <a:gridCol w="677334">
                  <a:extLst>
                    <a:ext uri="{9D8B030D-6E8A-4147-A177-3AD203B41FA5}">
                      <a16:colId xmlns:a16="http://schemas.microsoft.com/office/drawing/2014/main" val="4148486129"/>
                    </a:ext>
                  </a:extLst>
                </a:gridCol>
                <a:gridCol w="677334">
                  <a:extLst>
                    <a:ext uri="{9D8B030D-6E8A-4147-A177-3AD203B41FA5}">
                      <a16:colId xmlns:a16="http://schemas.microsoft.com/office/drawing/2014/main" val="2409496054"/>
                    </a:ext>
                  </a:extLst>
                </a:gridCol>
                <a:gridCol w="677334">
                  <a:extLst>
                    <a:ext uri="{9D8B030D-6E8A-4147-A177-3AD203B41FA5}">
                      <a16:colId xmlns:a16="http://schemas.microsoft.com/office/drawing/2014/main" val="1978341411"/>
                    </a:ext>
                  </a:extLst>
                </a:gridCol>
              </a:tblGrid>
              <a:tr h="357343">
                <a:tc>
                  <a:txBody>
                    <a:bodyPr/>
                    <a:lstStyle/>
                    <a:p>
                      <a:r>
                        <a:rPr lang="en-US" sz="1000" dirty="0"/>
                        <a:t>49.2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47.5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49.7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2796817"/>
                  </a:ext>
                </a:extLst>
              </a:tr>
              <a:tr h="357343">
                <a:tc>
                  <a:txBody>
                    <a:bodyPr/>
                    <a:lstStyle/>
                    <a:p>
                      <a:r>
                        <a:rPr lang="en-US" sz="1000" dirty="0"/>
                        <a:t>28.92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31.06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27.25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26.82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36.95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33.59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8844757"/>
                  </a:ext>
                </a:extLst>
              </a:tr>
              <a:tr h="357343">
                <a:tc>
                  <a:txBody>
                    <a:bodyPr/>
                    <a:lstStyle/>
                    <a:p>
                      <a:r>
                        <a:rPr lang="en-US" sz="1000" dirty="0"/>
                        <a:t>131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050437"/>
                  </a:ext>
                </a:extLst>
              </a:tr>
            </a:tbl>
          </a:graphicData>
        </a:graphic>
      </p:graphicFrame>
      <p:sp>
        <p:nvSpPr>
          <p:cNvPr id="11" name="Double Bracket 10">
            <a:extLst>
              <a:ext uri="{FF2B5EF4-FFF2-40B4-BE49-F238E27FC236}">
                <a16:creationId xmlns:a16="http://schemas.microsoft.com/office/drawing/2014/main" id="{5B40C0FD-8E39-E6DB-2864-D025A7FCE92A}"/>
              </a:ext>
            </a:extLst>
          </p:cNvPr>
          <p:cNvSpPr/>
          <p:nvPr/>
        </p:nvSpPr>
        <p:spPr>
          <a:xfrm>
            <a:off x="1687870" y="4109352"/>
            <a:ext cx="4060723" cy="1456674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732EEC-F68D-681C-16CA-C4B798201B7B}"/>
              </a:ext>
            </a:extLst>
          </p:cNvPr>
          <p:cNvSpPr txBox="1"/>
          <p:nvPr/>
        </p:nvSpPr>
        <p:spPr>
          <a:xfrm>
            <a:off x="151668" y="3861940"/>
            <a:ext cx="1097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Multiply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45F1403-FFCD-77D7-AC9E-F030EF9F2C23}"/>
              </a:ext>
            </a:extLst>
          </p:cNvPr>
          <p:cNvCxnSpPr>
            <a:stCxn id="7" idx="1"/>
            <a:endCxn id="12" idx="0"/>
          </p:cNvCxnSpPr>
          <p:nvPr/>
        </p:nvCxnSpPr>
        <p:spPr>
          <a:xfrm flipH="1">
            <a:off x="700635" y="3122638"/>
            <a:ext cx="206138" cy="7393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1492DAE-2FBA-57EB-3241-AE614A76D44C}"/>
              </a:ext>
            </a:extLst>
          </p:cNvPr>
          <p:cNvCxnSpPr>
            <a:stCxn id="8" idx="1"/>
            <a:endCxn id="12" idx="2"/>
          </p:cNvCxnSpPr>
          <p:nvPr/>
        </p:nvCxnSpPr>
        <p:spPr>
          <a:xfrm flipH="1" flipV="1">
            <a:off x="700635" y="4231272"/>
            <a:ext cx="232858" cy="5523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2AD817C1-AB88-9BC5-F519-237B81C144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7109042"/>
              </p:ext>
            </p:extLst>
          </p:nvPr>
        </p:nvGraphicFramePr>
        <p:xfrm>
          <a:off x="7237518" y="3491229"/>
          <a:ext cx="4317156" cy="107203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79289">
                  <a:extLst>
                    <a:ext uri="{9D8B030D-6E8A-4147-A177-3AD203B41FA5}">
                      <a16:colId xmlns:a16="http://schemas.microsoft.com/office/drawing/2014/main" val="2367418003"/>
                    </a:ext>
                  </a:extLst>
                </a:gridCol>
                <a:gridCol w="1079289">
                  <a:extLst>
                    <a:ext uri="{9D8B030D-6E8A-4147-A177-3AD203B41FA5}">
                      <a16:colId xmlns:a16="http://schemas.microsoft.com/office/drawing/2014/main" val="1259139911"/>
                    </a:ext>
                  </a:extLst>
                </a:gridCol>
                <a:gridCol w="1079289">
                  <a:extLst>
                    <a:ext uri="{9D8B030D-6E8A-4147-A177-3AD203B41FA5}">
                      <a16:colId xmlns:a16="http://schemas.microsoft.com/office/drawing/2014/main" val="2022209359"/>
                    </a:ext>
                  </a:extLst>
                </a:gridCol>
                <a:gridCol w="1079289">
                  <a:extLst>
                    <a:ext uri="{9D8B030D-6E8A-4147-A177-3AD203B41FA5}">
                      <a16:colId xmlns:a16="http://schemas.microsoft.com/office/drawing/2014/main" val="1046233373"/>
                    </a:ext>
                  </a:extLst>
                </a:gridCol>
              </a:tblGrid>
              <a:tr h="26800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2.68655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-1.77913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13.82846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-11.1962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84754899"/>
                  </a:ext>
                </a:extLst>
              </a:tr>
              <a:tr h="26800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-0.03211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0.0355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-0.26811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0.292985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34857317"/>
                  </a:ext>
                </a:extLst>
              </a:tr>
              <a:tr h="26800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-0.0024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-0.01437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0.035443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-0.12139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576642483"/>
                  </a:ext>
                </a:extLst>
              </a:tr>
              <a:tr h="26800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-0.00601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0.004404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-0.01001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0.003695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572163798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7CBA2F1B-903A-179E-DA32-13701550AFEC}"/>
              </a:ext>
            </a:extLst>
          </p:cNvPr>
          <p:cNvSpPr txBox="1"/>
          <p:nvPr/>
        </p:nvSpPr>
        <p:spPr>
          <a:xfrm>
            <a:off x="6319019" y="3924686"/>
            <a:ext cx="1416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(X</a:t>
            </a:r>
            <a:r>
              <a:rPr lang="en-US" baseline="30000" dirty="0"/>
              <a:t>T</a:t>
            </a:r>
            <a:r>
              <a:rPr lang="en-US" dirty="0"/>
              <a:t>X)</a:t>
            </a:r>
            <a:r>
              <a:rPr lang="en-US" baseline="30000" dirty="0"/>
              <a:t>-1</a:t>
            </a:r>
            <a:r>
              <a:rPr lang="en-US" dirty="0"/>
              <a:t>X</a:t>
            </a:r>
            <a:r>
              <a:rPr lang="en-US" baseline="30000" dirty="0"/>
              <a:t>T</a:t>
            </a:r>
            <a:r>
              <a:rPr lang="en-US" dirty="0"/>
              <a:t>=</a:t>
            </a:r>
          </a:p>
        </p:txBody>
      </p:sp>
      <p:sp>
        <p:nvSpPr>
          <p:cNvPr id="20" name="Double Bracket 19">
            <a:extLst>
              <a:ext uri="{FF2B5EF4-FFF2-40B4-BE49-F238E27FC236}">
                <a16:creationId xmlns:a16="http://schemas.microsoft.com/office/drawing/2014/main" id="{1B5FFBA0-06B4-B597-8FFF-BBC14501F800}"/>
              </a:ext>
            </a:extLst>
          </p:cNvPr>
          <p:cNvSpPr/>
          <p:nvPr/>
        </p:nvSpPr>
        <p:spPr>
          <a:xfrm>
            <a:off x="7620322" y="3387331"/>
            <a:ext cx="4060723" cy="1279827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4600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FD166-6972-8E86-5FD4-DB88995BB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Finding B (Coefficients) Cont’d</a:t>
            </a:r>
            <a:br>
              <a:rPr lang="en-US" dirty="0"/>
            </a:br>
            <a:r>
              <a:rPr lang="en-US" dirty="0"/>
              <a:t>B=(X</a:t>
            </a:r>
            <a:r>
              <a:rPr lang="en-US" baseline="30000" dirty="0"/>
              <a:t>T</a:t>
            </a:r>
            <a:r>
              <a:rPr lang="en-US" dirty="0"/>
              <a:t>X)</a:t>
            </a:r>
            <a:r>
              <a:rPr lang="en-US" baseline="30000" dirty="0"/>
              <a:t>-1</a:t>
            </a:r>
            <a:r>
              <a:rPr lang="en-US" dirty="0"/>
              <a:t>X</a:t>
            </a:r>
            <a:r>
              <a:rPr lang="en-US" baseline="30000" dirty="0"/>
              <a:t>t</a:t>
            </a:r>
            <a:r>
              <a:rPr lang="en-US" dirty="0"/>
              <a:t>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BC3AC9-62B3-CD7B-FFE5-47857C3D847B}"/>
              </a:ext>
            </a:extLst>
          </p:cNvPr>
          <p:cNvSpPr txBox="1"/>
          <p:nvPr/>
        </p:nvSpPr>
        <p:spPr>
          <a:xfrm>
            <a:off x="678425" y="4558809"/>
            <a:ext cx="865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 =</a:t>
            </a:r>
          </a:p>
        </p:txBody>
      </p:sp>
      <p:sp>
        <p:nvSpPr>
          <p:cNvPr id="6" name="Double Bracket 5">
            <a:extLst>
              <a:ext uri="{FF2B5EF4-FFF2-40B4-BE49-F238E27FC236}">
                <a16:creationId xmlns:a16="http://schemas.microsoft.com/office/drawing/2014/main" id="{E849A4E4-FF65-D9E6-D32C-A7733DB86E72}"/>
              </a:ext>
            </a:extLst>
          </p:cNvPr>
          <p:cNvSpPr/>
          <p:nvPr/>
        </p:nvSpPr>
        <p:spPr>
          <a:xfrm>
            <a:off x="1386348" y="4166631"/>
            <a:ext cx="1416818" cy="1680336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0C9FB2-4DEB-30C9-2DF4-17FF550387BF}"/>
              </a:ext>
            </a:extLst>
          </p:cNvPr>
          <p:cNvSpPr txBox="1"/>
          <p:nvPr/>
        </p:nvSpPr>
        <p:spPr>
          <a:xfrm>
            <a:off x="677939" y="2878473"/>
            <a:ext cx="1416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(X</a:t>
            </a:r>
            <a:r>
              <a:rPr lang="en-US" baseline="30000" dirty="0"/>
              <a:t>T</a:t>
            </a:r>
            <a:r>
              <a:rPr lang="en-US" dirty="0"/>
              <a:t>X)</a:t>
            </a:r>
            <a:r>
              <a:rPr lang="en-US" baseline="30000" dirty="0"/>
              <a:t>-1</a:t>
            </a:r>
            <a:r>
              <a:rPr lang="en-US" dirty="0"/>
              <a:t>X</a:t>
            </a:r>
            <a:r>
              <a:rPr lang="en-US" baseline="30000" dirty="0"/>
              <a:t>T</a:t>
            </a:r>
            <a:r>
              <a:rPr lang="en-US" dirty="0"/>
              <a:t>=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C167D46-B767-98E0-B7A1-EABE2B5704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9123123"/>
              </p:ext>
            </p:extLst>
          </p:nvPr>
        </p:nvGraphicFramePr>
        <p:xfrm>
          <a:off x="1778844" y="2519254"/>
          <a:ext cx="4317156" cy="107203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79289">
                  <a:extLst>
                    <a:ext uri="{9D8B030D-6E8A-4147-A177-3AD203B41FA5}">
                      <a16:colId xmlns:a16="http://schemas.microsoft.com/office/drawing/2014/main" val="2367418003"/>
                    </a:ext>
                  </a:extLst>
                </a:gridCol>
                <a:gridCol w="1079289">
                  <a:extLst>
                    <a:ext uri="{9D8B030D-6E8A-4147-A177-3AD203B41FA5}">
                      <a16:colId xmlns:a16="http://schemas.microsoft.com/office/drawing/2014/main" val="1259139911"/>
                    </a:ext>
                  </a:extLst>
                </a:gridCol>
                <a:gridCol w="1079289">
                  <a:extLst>
                    <a:ext uri="{9D8B030D-6E8A-4147-A177-3AD203B41FA5}">
                      <a16:colId xmlns:a16="http://schemas.microsoft.com/office/drawing/2014/main" val="2022209359"/>
                    </a:ext>
                  </a:extLst>
                </a:gridCol>
                <a:gridCol w="1079289">
                  <a:extLst>
                    <a:ext uri="{9D8B030D-6E8A-4147-A177-3AD203B41FA5}">
                      <a16:colId xmlns:a16="http://schemas.microsoft.com/office/drawing/2014/main" val="1046233373"/>
                    </a:ext>
                  </a:extLst>
                </a:gridCol>
              </a:tblGrid>
              <a:tr h="26800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2.68655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-1.77913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13.82846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-11.1962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84754899"/>
                  </a:ext>
                </a:extLst>
              </a:tr>
              <a:tr h="26800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-0.03211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0.0355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-0.26811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0.292985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34857317"/>
                  </a:ext>
                </a:extLst>
              </a:tr>
              <a:tr h="26800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-0.0024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-0.01437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0.035443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-0.12139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576642483"/>
                  </a:ext>
                </a:extLst>
              </a:tr>
              <a:tr h="26800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-0.00601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0.004404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-0.01001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0.003695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572163798"/>
                  </a:ext>
                </a:extLst>
              </a:tr>
            </a:tbl>
          </a:graphicData>
        </a:graphic>
      </p:graphicFrame>
      <p:sp>
        <p:nvSpPr>
          <p:cNvPr id="9" name="Double Bracket 8">
            <a:extLst>
              <a:ext uri="{FF2B5EF4-FFF2-40B4-BE49-F238E27FC236}">
                <a16:creationId xmlns:a16="http://schemas.microsoft.com/office/drawing/2014/main" id="{E66D63D5-1B92-DC57-621D-ADB3519B35C5}"/>
              </a:ext>
            </a:extLst>
          </p:cNvPr>
          <p:cNvSpPr/>
          <p:nvPr/>
        </p:nvSpPr>
        <p:spPr>
          <a:xfrm>
            <a:off x="2183084" y="2466734"/>
            <a:ext cx="4060723" cy="1279827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2182D3-C1AD-9A81-58B8-64FB29D92058}"/>
              </a:ext>
            </a:extLst>
          </p:cNvPr>
          <p:cNvSpPr txBox="1"/>
          <p:nvPr/>
        </p:nvSpPr>
        <p:spPr>
          <a:xfrm>
            <a:off x="52442" y="3769393"/>
            <a:ext cx="1097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Multiply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2B4F675-F284-9BC6-FD90-F9235F16F1B3}"/>
              </a:ext>
            </a:extLst>
          </p:cNvPr>
          <p:cNvCxnSpPr>
            <a:stCxn id="7" idx="1"/>
            <a:endCxn id="10" idx="0"/>
          </p:cNvCxnSpPr>
          <p:nvPr/>
        </p:nvCxnSpPr>
        <p:spPr>
          <a:xfrm flipH="1">
            <a:off x="601409" y="3063139"/>
            <a:ext cx="76530" cy="7062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94B0705-607F-63BB-F411-9C158770BEF0}"/>
              </a:ext>
            </a:extLst>
          </p:cNvPr>
          <p:cNvCxnSpPr>
            <a:stCxn id="5" idx="1"/>
            <a:endCxn id="10" idx="2"/>
          </p:cNvCxnSpPr>
          <p:nvPr/>
        </p:nvCxnSpPr>
        <p:spPr>
          <a:xfrm flipH="1" flipV="1">
            <a:off x="601409" y="4138725"/>
            <a:ext cx="77016" cy="6047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F029212-90E8-7389-50CC-DE097E1A1F0D}"/>
              </a:ext>
            </a:extLst>
          </p:cNvPr>
          <p:cNvSpPr txBox="1"/>
          <p:nvPr/>
        </p:nvSpPr>
        <p:spPr>
          <a:xfrm>
            <a:off x="3937422" y="4533639"/>
            <a:ext cx="1596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(X</a:t>
            </a:r>
            <a:r>
              <a:rPr lang="en-US" baseline="30000" dirty="0"/>
              <a:t>T</a:t>
            </a:r>
            <a:r>
              <a:rPr lang="en-US" dirty="0"/>
              <a:t>X)</a:t>
            </a:r>
            <a:r>
              <a:rPr lang="en-US" baseline="30000" dirty="0"/>
              <a:t>-1</a:t>
            </a:r>
            <a:r>
              <a:rPr lang="en-US" dirty="0"/>
              <a:t>X</a:t>
            </a:r>
            <a:r>
              <a:rPr lang="en-US" baseline="30000" dirty="0"/>
              <a:t>T</a:t>
            </a:r>
            <a:r>
              <a:rPr lang="en-US" dirty="0"/>
              <a:t>Y=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438BAE63-3D5D-7E86-AADD-5E24B5143E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4040355"/>
              </p:ext>
            </p:extLst>
          </p:nvPr>
        </p:nvGraphicFramePr>
        <p:xfrm>
          <a:off x="1572118" y="4138725"/>
          <a:ext cx="1003934" cy="15738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3934">
                  <a:extLst>
                    <a:ext uri="{9D8B030D-6E8A-4147-A177-3AD203B41FA5}">
                      <a16:colId xmlns:a16="http://schemas.microsoft.com/office/drawing/2014/main" val="2764086533"/>
                    </a:ext>
                  </a:extLst>
                </a:gridCol>
              </a:tblGrid>
              <a:tr h="26230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1369.72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54959473"/>
                  </a:ext>
                </a:extLst>
              </a:tr>
              <a:tr h="26230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2402.77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263176735"/>
                  </a:ext>
                </a:extLst>
              </a:tr>
              <a:tr h="26230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2564.01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27081760"/>
                  </a:ext>
                </a:extLst>
              </a:tr>
              <a:tr h="26230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2239.98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7286684"/>
                  </a:ext>
                </a:extLst>
              </a:tr>
              <a:tr h="26230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2217.46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602381292"/>
                  </a:ext>
                </a:extLst>
              </a:tr>
              <a:tr h="26230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1865.55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404360173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A861ABF7-0510-5649-C9B5-176EAF36CB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7822465"/>
              </p:ext>
            </p:extLst>
          </p:nvPr>
        </p:nvGraphicFramePr>
        <p:xfrm>
          <a:off x="5330030" y="4251166"/>
          <a:ext cx="912091" cy="148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2091">
                  <a:extLst>
                    <a:ext uri="{9D8B030D-6E8A-4147-A177-3AD203B41FA5}">
                      <a16:colId xmlns:a16="http://schemas.microsoft.com/office/drawing/2014/main" val="23507879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3612.275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597283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-19.1548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4349610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9.985724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5224639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-6.06813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725947922"/>
                  </a:ext>
                </a:extLst>
              </a:tr>
            </a:tbl>
          </a:graphicData>
        </a:graphic>
      </p:graphicFrame>
      <p:sp>
        <p:nvSpPr>
          <p:cNvPr id="19" name="Double Bracket 18">
            <a:extLst>
              <a:ext uri="{FF2B5EF4-FFF2-40B4-BE49-F238E27FC236}">
                <a16:creationId xmlns:a16="http://schemas.microsoft.com/office/drawing/2014/main" id="{06E72800-3D77-AC4B-206A-5B2A2FC82B71}"/>
              </a:ext>
            </a:extLst>
          </p:cNvPr>
          <p:cNvSpPr/>
          <p:nvPr/>
        </p:nvSpPr>
        <p:spPr>
          <a:xfrm>
            <a:off x="5533712" y="4138725"/>
            <a:ext cx="912091" cy="1708242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2556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41A4-F555-05D5-10E7-2646803BE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coefficient 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37B8FE-6D07-C93B-8AC5-351C6DEA1C37}"/>
              </a:ext>
            </a:extLst>
          </p:cNvPr>
          <p:cNvSpPr txBox="1"/>
          <p:nvPr/>
        </p:nvSpPr>
        <p:spPr>
          <a:xfrm>
            <a:off x="491617" y="2160892"/>
            <a:ext cx="10301074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"/>
            <a:r>
              <a:rPr lang="en-US" sz="2500" dirty="0"/>
              <a:t>B=</a:t>
            </a:r>
            <a:r>
              <a:rPr lang="en-US" sz="2500" b="1" dirty="0"/>
              <a:t>3612.275</a:t>
            </a:r>
            <a:r>
              <a:rPr lang="en-US" sz="2500" dirty="0"/>
              <a:t>-19.1548</a:t>
            </a:r>
            <a:r>
              <a:rPr lang="en-US" sz="2500" b="1" dirty="0"/>
              <a:t>X</a:t>
            </a:r>
            <a:r>
              <a:rPr lang="en-US" sz="2500" b="1" baseline="-25000" dirty="0"/>
              <a:t>1</a:t>
            </a:r>
            <a:r>
              <a:rPr lang="en-US" sz="2500" dirty="0"/>
              <a:t>+9.985724</a:t>
            </a:r>
            <a:r>
              <a:rPr lang="en-US" sz="2500" b="1" dirty="0"/>
              <a:t>X</a:t>
            </a:r>
            <a:r>
              <a:rPr lang="en-US" sz="2500" b="1" baseline="-25000" dirty="0"/>
              <a:t>2</a:t>
            </a:r>
            <a:r>
              <a:rPr lang="en-US" sz="2500" dirty="0"/>
              <a:t>-6.06813</a:t>
            </a:r>
            <a:r>
              <a:rPr lang="en-US" sz="2500" b="1" dirty="0"/>
              <a:t>X</a:t>
            </a:r>
            <a:r>
              <a:rPr lang="en-US" sz="2500" b="1" baseline="-25000" dirty="0"/>
              <a:t>3</a:t>
            </a:r>
            <a:endParaRPr lang="en-US" sz="2500" dirty="0">
              <a:solidFill>
                <a:srgbClr val="000000"/>
              </a:solidFill>
              <a:latin typeface="Aptos Narrow" panose="020B0004020202020204" pitchFamily="34" charset="0"/>
            </a:endParaRPr>
          </a:p>
          <a:p>
            <a:pPr algn="r" fontAlgn="b"/>
            <a:endParaRPr lang="en-US" sz="1500" baseline="-25000" dirty="0">
              <a:solidFill>
                <a:srgbClr val="000000"/>
              </a:solidFill>
              <a:latin typeface="Aptos Narrow" panose="020B0004020202020204" pitchFamily="34" charset="0"/>
            </a:endParaRPr>
          </a:p>
          <a:p>
            <a:pPr algn="r" fontAlgn="b">
              <a:buNone/>
            </a:pPr>
            <a:endParaRPr lang="en-US" dirty="0">
              <a:solidFill>
                <a:srgbClr val="000000"/>
              </a:solidFill>
              <a:latin typeface="Aptos Narrow" panose="020B0004020202020204" pitchFamily="34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C572667-C66E-F398-104F-5A781CDA6A46}"/>
              </a:ext>
            </a:extLst>
          </p:cNvPr>
          <p:cNvCxnSpPr/>
          <p:nvPr/>
        </p:nvCxnSpPr>
        <p:spPr>
          <a:xfrm>
            <a:off x="3480955" y="2599682"/>
            <a:ext cx="0" cy="17785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C829D31-58A9-7F34-1821-35723CE6A8E4}"/>
              </a:ext>
            </a:extLst>
          </p:cNvPr>
          <p:cNvSpPr txBox="1"/>
          <p:nvPr/>
        </p:nvSpPr>
        <p:spPr>
          <a:xfrm>
            <a:off x="2398178" y="4315325"/>
            <a:ext cx="2774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Point of Intersection</a:t>
            </a:r>
          </a:p>
        </p:txBody>
      </p:sp>
    </p:spTree>
    <p:extLst>
      <p:ext uri="{BB962C8B-B14F-4D97-AF65-F5344CB8AC3E}">
        <p14:creationId xmlns:p14="http://schemas.microsoft.com/office/powerpoint/2010/main" val="31256952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7F0C4-5B86-983A-DAD6-E0360A2FD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Finding E</a:t>
            </a:r>
            <a:br>
              <a:rPr lang="en-US" dirty="0"/>
            </a:br>
            <a:r>
              <a:rPr lang="en-US" sz="3300" dirty="0"/>
              <a:t>The Error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D2D045-71D5-AEAC-17E1-C31AAD020D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221992"/>
            <a:ext cx="3195955" cy="874499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E = Y – Ŷ</a:t>
            </a:r>
          </a:p>
          <a:p>
            <a:pPr lvl="1"/>
            <a:r>
              <a:rPr lang="en-US" b="1" dirty="0"/>
              <a:t>Y: </a:t>
            </a:r>
            <a:r>
              <a:rPr lang="en-US" dirty="0"/>
              <a:t>Actual</a:t>
            </a:r>
          </a:p>
          <a:p>
            <a:pPr lvl="1"/>
            <a:r>
              <a:rPr lang="en-US" b="1" dirty="0"/>
              <a:t>Ŷ : </a:t>
            </a:r>
            <a:r>
              <a:rPr lang="en-US" dirty="0"/>
              <a:t>Predicted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8DAED16-65A5-EF49-07C4-5F5E6404BD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1282077"/>
              </p:ext>
            </p:extLst>
          </p:nvPr>
        </p:nvGraphicFramePr>
        <p:xfrm>
          <a:off x="68826" y="3962676"/>
          <a:ext cx="3093558" cy="19580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46779">
                  <a:extLst>
                    <a:ext uri="{9D8B030D-6E8A-4147-A177-3AD203B41FA5}">
                      <a16:colId xmlns:a16="http://schemas.microsoft.com/office/drawing/2014/main" val="2951752528"/>
                    </a:ext>
                  </a:extLst>
                </a:gridCol>
                <a:gridCol w="1546779">
                  <a:extLst>
                    <a:ext uri="{9D8B030D-6E8A-4147-A177-3AD203B41FA5}">
                      <a16:colId xmlns:a16="http://schemas.microsoft.com/office/drawing/2014/main" val="1208375621"/>
                    </a:ext>
                  </a:extLst>
                </a:gridCol>
              </a:tblGrid>
              <a:tr h="32633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54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2754.6895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984912848"/>
                  </a:ext>
                </a:extLst>
              </a:tr>
              <a:tr h="32633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63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2630.6648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706395577"/>
                  </a:ext>
                </a:extLst>
              </a:tr>
              <a:tr h="32633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58.5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2812.1792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58668658"/>
                  </a:ext>
                </a:extLst>
              </a:tr>
              <a:tr h="32633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58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2790.6902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732712142"/>
                  </a:ext>
                </a:extLst>
              </a:tr>
              <a:tr h="32633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60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2569.2302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253997332"/>
                  </a:ext>
                </a:extLst>
              </a:tr>
              <a:tr h="32633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63.5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2421.4359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24516985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496D19E-3526-7C92-E673-1227CA957706}"/>
              </a:ext>
            </a:extLst>
          </p:cNvPr>
          <p:cNvSpPr txBox="1"/>
          <p:nvPr/>
        </p:nvSpPr>
        <p:spPr>
          <a:xfrm>
            <a:off x="4830218" y="3061764"/>
            <a:ext cx="24741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Soybeans</a:t>
            </a:r>
          </a:p>
          <a:p>
            <a:r>
              <a:rPr lang="en-US" dirty="0"/>
              <a:t>Y                 Ŷ           E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911DD5D-90F8-B062-A30D-F69CF3CA11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2427706"/>
              </p:ext>
            </p:extLst>
          </p:nvPr>
        </p:nvGraphicFramePr>
        <p:xfrm>
          <a:off x="4375355" y="3761510"/>
          <a:ext cx="1947136" cy="22625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3568">
                  <a:extLst>
                    <a:ext uri="{9D8B030D-6E8A-4147-A177-3AD203B41FA5}">
                      <a16:colId xmlns:a16="http://schemas.microsoft.com/office/drawing/2014/main" val="3931118290"/>
                    </a:ext>
                  </a:extLst>
                </a:gridCol>
                <a:gridCol w="973568">
                  <a:extLst>
                    <a:ext uri="{9D8B030D-6E8A-4147-A177-3AD203B41FA5}">
                      <a16:colId xmlns:a16="http://schemas.microsoft.com/office/drawing/2014/main" val="957060943"/>
                    </a:ext>
                  </a:extLst>
                </a:gridCol>
              </a:tblGrid>
              <a:tr h="37708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231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2754.6895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51045463"/>
                  </a:ext>
                </a:extLst>
              </a:tr>
              <a:tr h="37708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267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2630.6648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540787574"/>
                  </a:ext>
                </a:extLst>
              </a:tr>
              <a:tr h="37708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258.5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2812.1792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24988534"/>
                  </a:ext>
                </a:extLst>
              </a:tr>
              <a:tr h="37708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259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2790.6902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051578249"/>
                  </a:ext>
                </a:extLst>
              </a:tr>
              <a:tr h="37708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271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2569.2302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138079430"/>
                  </a:ext>
                </a:extLst>
              </a:tr>
              <a:tr h="37708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273.5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2421.4359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30016536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C2D35A0-C07A-408F-D97A-47B98BDF20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6147786"/>
              </p:ext>
            </p:extLst>
          </p:nvPr>
        </p:nvGraphicFramePr>
        <p:xfrm>
          <a:off x="8075680" y="3873912"/>
          <a:ext cx="2257732" cy="206968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8866">
                  <a:extLst>
                    <a:ext uri="{9D8B030D-6E8A-4147-A177-3AD203B41FA5}">
                      <a16:colId xmlns:a16="http://schemas.microsoft.com/office/drawing/2014/main" val="3931118290"/>
                    </a:ext>
                  </a:extLst>
                </a:gridCol>
                <a:gridCol w="1128866">
                  <a:extLst>
                    <a:ext uri="{9D8B030D-6E8A-4147-A177-3AD203B41FA5}">
                      <a16:colId xmlns:a16="http://schemas.microsoft.com/office/drawing/2014/main" val="957060943"/>
                    </a:ext>
                  </a:extLst>
                </a:gridCol>
              </a:tblGrid>
              <a:tr h="34494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19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2754.6895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51045463"/>
                  </a:ext>
                </a:extLst>
              </a:tr>
              <a:tr h="34494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49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2630.6648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540787574"/>
                  </a:ext>
                </a:extLst>
              </a:tr>
              <a:tr h="34494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52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2812.1792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24988534"/>
                  </a:ext>
                </a:extLst>
              </a:tr>
              <a:tr h="34494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63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2790.6902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051578249"/>
                  </a:ext>
                </a:extLst>
              </a:tr>
              <a:tr h="34494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68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2569.2302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138079430"/>
                  </a:ext>
                </a:extLst>
              </a:tr>
              <a:tr h="34494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58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2421.4359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3001653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818343B1-298B-5689-ACCB-1ACDD374917B}"/>
              </a:ext>
            </a:extLst>
          </p:cNvPr>
          <p:cNvSpPr txBox="1"/>
          <p:nvPr/>
        </p:nvSpPr>
        <p:spPr>
          <a:xfrm>
            <a:off x="1333386" y="3206418"/>
            <a:ext cx="30935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Corn</a:t>
            </a:r>
          </a:p>
          <a:p>
            <a:r>
              <a:rPr lang="en-US" dirty="0"/>
              <a:t>Y                 Ŷ                     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942D6C-7DC9-E222-FA91-CA1CE1917628}"/>
              </a:ext>
            </a:extLst>
          </p:cNvPr>
          <p:cNvSpPr txBox="1"/>
          <p:nvPr/>
        </p:nvSpPr>
        <p:spPr>
          <a:xfrm>
            <a:off x="8972175" y="3214322"/>
            <a:ext cx="23320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Wheat</a:t>
            </a:r>
          </a:p>
          <a:p>
            <a:r>
              <a:rPr lang="en-US" dirty="0"/>
              <a:t>Y                 Ŷ        E  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40C8B73-17CF-811F-A231-8E29F4F7C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3344397"/>
              </p:ext>
            </p:extLst>
          </p:nvPr>
        </p:nvGraphicFramePr>
        <p:xfrm>
          <a:off x="3393506" y="3796236"/>
          <a:ext cx="1006168" cy="2225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6168">
                  <a:extLst>
                    <a:ext uri="{9D8B030D-6E8A-4147-A177-3AD203B41FA5}">
                      <a16:colId xmlns:a16="http://schemas.microsoft.com/office/drawing/2014/main" val="11381493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-2577.689481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459897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-2426.66476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591720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-2612.17923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654631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-2589.690231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02233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-2358.230219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502030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-2211.435914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820261029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8773DA60-83EF-F85D-E1BC-0E61F31575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3291861"/>
              </p:ext>
            </p:extLst>
          </p:nvPr>
        </p:nvGraphicFramePr>
        <p:xfrm>
          <a:off x="6298172" y="3796236"/>
          <a:ext cx="1006168" cy="2225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6168">
                  <a:extLst>
                    <a:ext uri="{9D8B030D-6E8A-4147-A177-3AD203B41FA5}">
                      <a16:colId xmlns:a16="http://schemas.microsoft.com/office/drawing/2014/main" val="11381493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-2700.689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459897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-2567.665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591720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-2753.679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654631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-2732.69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02233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-2509.23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502030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-2357.936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820261029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AC134DCB-CFC6-2EA3-626C-342EB7949D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1997037"/>
              </p:ext>
            </p:extLst>
          </p:nvPr>
        </p:nvGraphicFramePr>
        <p:xfrm>
          <a:off x="10298089" y="3796236"/>
          <a:ext cx="1006168" cy="2225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6168">
                  <a:extLst>
                    <a:ext uri="{9D8B030D-6E8A-4147-A177-3AD203B41FA5}">
                      <a16:colId xmlns:a16="http://schemas.microsoft.com/office/drawing/2014/main" val="11381493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-2735.6895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459897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-2581.6648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591720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-2760.1792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654631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-2727.6902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02233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-2501.2302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502030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-2363.4359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8202610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35778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B34FF-FF7E-19C0-DD1B-17181B31D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Matrix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24333E0-7FB3-B6EC-6E3B-E1A4CC5482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8303316"/>
              </p:ext>
            </p:extLst>
          </p:nvPr>
        </p:nvGraphicFramePr>
        <p:xfrm>
          <a:off x="1607372" y="2136417"/>
          <a:ext cx="5332359" cy="2225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7453">
                  <a:extLst>
                    <a:ext uri="{9D8B030D-6E8A-4147-A177-3AD203B41FA5}">
                      <a16:colId xmlns:a16="http://schemas.microsoft.com/office/drawing/2014/main" val="777637328"/>
                    </a:ext>
                  </a:extLst>
                </a:gridCol>
                <a:gridCol w="1777453">
                  <a:extLst>
                    <a:ext uri="{9D8B030D-6E8A-4147-A177-3AD203B41FA5}">
                      <a16:colId xmlns:a16="http://schemas.microsoft.com/office/drawing/2014/main" val="2747914342"/>
                    </a:ext>
                  </a:extLst>
                </a:gridCol>
                <a:gridCol w="1777453">
                  <a:extLst>
                    <a:ext uri="{9D8B030D-6E8A-4147-A177-3AD203B41FA5}">
                      <a16:colId xmlns:a16="http://schemas.microsoft.com/office/drawing/2014/main" val="13444055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-2577.689481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-2700.689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-2735.6895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93844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-2426.66476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-2567.665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-2581.6648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1632477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-2612.17923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-2753.679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-2760.1792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4949072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-2589.690231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-2732.69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-2727.6902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56782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-2358.230219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-2509.23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-2501.2302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5664933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-2211.435914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-2357.936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-2363.4359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44079893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78FF77F-A7EA-0BF1-AF6E-72AEE4420369}"/>
              </a:ext>
            </a:extLst>
          </p:cNvPr>
          <p:cNvSpPr txBox="1"/>
          <p:nvPr/>
        </p:nvSpPr>
        <p:spPr>
          <a:xfrm>
            <a:off x="1828800" y="3136490"/>
            <a:ext cx="1474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E=</a:t>
            </a:r>
          </a:p>
        </p:txBody>
      </p:sp>
      <p:sp>
        <p:nvSpPr>
          <p:cNvPr id="6" name="Double Bracket 5">
            <a:extLst>
              <a:ext uri="{FF2B5EF4-FFF2-40B4-BE49-F238E27FC236}">
                <a16:creationId xmlns:a16="http://schemas.microsoft.com/office/drawing/2014/main" id="{756885BE-E6F7-593F-FC66-389089C70592}"/>
              </a:ext>
            </a:extLst>
          </p:cNvPr>
          <p:cNvSpPr/>
          <p:nvPr/>
        </p:nvSpPr>
        <p:spPr>
          <a:xfrm>
            <a:off x="2477729" y="2136417"/>
            <a:ext cx="4906297" cy="2573235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3189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E4B57-B5A0-F6E3-8293-A89DB85FF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Our Model</a:t>
            </a:r>
            <a:br>
              <a:rPr lang="en-US" dirty="0"/>
            </a:br>
            <a:r>
              <a:rPr lang="en-US" sz="3000" dirty="0"/>
              <a:t>Y=XB+E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A02C69-AB8C-4D9B-B74D-BE634E961F4E}"/>
              </a:ext>
            </a:extLst>
          </p:cNvPr>
          <p:cNvSpPr txBox="1"/>
          <p:nvPr/>
        </p:nvSpPr>
        <p:spPr>
          <a:xfrm>
            <a:off x="1434903" y="3069645"/>
            <a:ext cx="6685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Y=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A5775F1-9168-15D8-242A-2AEB8AD13B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2040186"/>
              </p:ext>
            </p:extLst>
          </p:nvPr>
        </p:nvGraphicFramePr>
        <p:xfrm>
          <a:off x="2298569" y="2591753"/>
          <a:ext cx="297149" cy="153118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7149">
                  <a:extLst>
                    <a:ext uri="{9D8B030D-6E8A-4147-A177-3AD203B41FA5}">
                      <a16:colId xmlns:a16="http://schemas.microsoft.com/office/drawing/2014/main" val="183648869"/>
                    </a:ext>
                  </a:extLst>
                </a:gridCol>
              </a:tblGrid>
              <a:tr h="255197"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3451310"/>
                  </a:ext>
                </a:extLst>
              </a:tr>
              <a:tr h="255197"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7875145"/>
                  </a:ext>
                </a:extLst>
              </a:tr>
              <a:tr h="255197"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5207964"/>
                  </a:ext>
                </a:extLst>
              </a:tr>
              <a:tr h="255197"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759536"/>
                  </a:ext>
                </a:extLst>
              </a:tr>
              <a:tr h="255197"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7010178"/>
                  </a:ext>
                </a:extLst>
              </a:tr>
              <a:tr h="255197"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007722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049D69B-590E-5191-5528-CAAD10A3A4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5796584"/>
              </p:ext>
            </p:extLst>
          </p:nvPr>
        </p:nvGraphicFramePr>
        <p:xfrm>
          <a:off x="2113937" y="2483101"/>
          <a:ext cx="2679828" cy="15677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93276">
                  <a:extLst>
                    <a:ext uri="{9D8B030D-6E8A-4147-A177-3AD203B41FA5}">
                      <a16:colId xmlns:a16="http://schemas.microsoft.com/office/drawing/2014/main" val="953195865"/>
                    </a:ext>
                  </a:extLst>
                </a:gridCol>
                <a:gridCol w="893276">
                  <a:extLst>
                    <a:ext uri="{9D8B030D-6E8A-4147-A177-3AD203B41FA5}">
                      <a16:colId xmlns:a16="http://schemas.microsoft.com/office/drawing/2014/main" val="2691667054"/>
                    </a:ext>
                  </a:extLst>
                </a:gridCol>
                <a:gridCol w="893276">
                  <a:extLst>
                    <a:ext uri="{9D8B030D-6E8A-4147-A177-3AD203B41FA5}">
                      <a16:colId xmlns:a16="http://schemas.microsoft.com/office/drawing/2014/main" val="2637261088"/>
                    </a:ext>
                  </a:extLst>
                </a:gridCol>
              </a:tblGrid>
              <a:tr h="26128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49.2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28.92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131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707688342"/>
                  </a:ext>
                </a:extLst>
              </a:tr>
              <a:tr h="26128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50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31.06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146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5151103"/>
                  </a:ext>
                </a:extLst>
              </a:tr>
              <a:tr h="26128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47.5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27.25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124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722196870"/>
                  </a:ext>
                </a:extLst>
              </a:tr>
              <a:tr h="26128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50.6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26.82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134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587736619"/>
                  </a:ext>
                </a:extLst>
              </a:tr>
              <a:tr h="26128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51.5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36.95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140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181681446"/>
                  </a:ext>
                </a:extLst>
              </a:tr>
              <a:tr h="26128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49.7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33.59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172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42285243"/>
                  </a:ext>
                </a:extLst>
              </a:tr>
            </a:tbl>
          </a:graphicData>
        </a:graphic>
      </p:graphicFrame>
      <p:sp>
        <p:nvSpPr>
          <p:cNvPr id="7" name="Double Bracket 6">
            <a:extLst>
              <a:ext uri="{FF2B5EF4-FFF2-40B4-BE49-F238E27FC236}">
                <a16:creationId xmlns:a16="http://schemas.microsoft.com/office/drawing/2014/main" id="{8C0B0C98-46A1-4624-8866-F27E65F356F7}"/>
              </a:ext>
            </a:extLst>
          </p:cNvPr>
          <p:cNvSpPr/>
          <p:nvPr/>
        </p:nvSpPr>
        <p:spPr>
          <a:xfrm>
            <a:off x="1927124" y="2410969"/>
            <a:ext cx="3136489" cy="1639836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0825364-3755-7089-C0BE-F81D618CEF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2188479"/>
              </p:ext>
            </p:extLst>
          </p:nvPr>
        </p:nvGraphicFramePr>
        <p:xfrm>
          <a:off x="5183909" y="2502654"/>
          <a:ext cx="912091" cy="148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2091">
                  <a:extLst>
                    <a:ext uri="{9D8B030D-6E8A-4147-A177-3AD203B41FA5}">
                      <a16:colId xmlns:a16="http://schemas.microsoft.com/office/drawing/2014/main" val="23507879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3612.275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597283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-19.1548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4349610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9.985724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5224639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-6.06813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725947922"/>
                  </a:ext>
                </a:extLst>
              </a:tr>
            </a:tbl>
          </a:graphicData>
        </a:graphic>
      </p:graphicFrame>
      <p:sp>
        <p:nvSpPr>
          <p:cNvPr id="9" name="Double Bracket 8">
            <a:extLst>
              <a:ext uri="{FF2B5EF4-FFF2-40B4-BE49-F238E27FC236}">
                <a16:creationId xmlns:a16="http://schemas.microsoft.com/office/drawing/2014/main" id="{24C4561F-E916-C1D3-8040-78BA88428AF7}"/>
              </a:ext>
            </a:extLst>
          </p:cNvPr>
          <p:cNvSpPr/>
          <p:nvPr/>
        </p:nvSpPr>
        <p:spPr>
          <a:xfrm>
            <a:off x="5304205" y="2503223"/>
            <a:ext cx="912091" cy="1708242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F10653-E1CB-B5DC-7DDB-BC02E8051912}"/>
              </a:ext>
            </a:extLst>
          </p:cNvPr>
          <p:cNvSpPr txBox="1"/>
          <p:nvPr/>
        </p:nvSpPr>
        <p:spPr>
          <a:xfrm>
            <a:off x="6606440" y="3046221"/>
            <a:ext cx="6685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9BCE059-D18F-585C-D927-9F5283173F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3403401"/>
              </p:ext>
            </p:extLst>
          </p:nvPr>
        </p:nvGraphicFramePr>
        <p:xfrm>
          <a:off x="6046267" y="2118367"/>
          <a:ext cx="5332359" cy="2225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7453">
                  <a:extLst>
                    <a:ext uri="{9D8B030D-6E8A-4147-A177-3AD203B41FA5}">
                      <a16:colId xmlns:a16="http://schemas.microsoft.com/office/drawing/2014/main" val="777637328"/>
                    </a:ext>
                  </a:extLst>
                </a:gridCol>
                <a:gridCol w="1777453">
                  <a:extLst>
                    <a:ext uri="{9D8B030D-6E8A-4147-A177-3AD203B41FA5}">
                      <a16:colId xmlns:a16="http://schemas.microsoft.com/office/drawing/2014/main" val="2747914342"/>
                    </a:ext>
                  </a:extLst>
                </a:gridCol>
                <a:gridCol w="1777453">
                  <a:extLst>
                    <a:ext uri="{9D8B030D-6E8A-4147-A177-3AD203B41FA5}">
                      <a16:colId xmlns:a16="http://schemas.microsoft.com/office/drawing/2014/main" val="13444055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2754.6895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-2700.689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-2735.6895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93844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2630.6648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-2567.665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-2581.6648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1632477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2812.1792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-2753.679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-2760.1792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4949072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2790.6902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-2732.69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-2727.6902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56782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2569.2302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-2509.23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-2501.2302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5664933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2421.4359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-2357.936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-2363.4359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440798934"/>
                  </a:ext>
                </a:extLst>
              </a:tr>
            </a:tbl>
          </a:graphicData>
        </a:graphic>
      </p:graphicFrame>
      <p:sp>
        <p:nvSpPr>
          <p:cNvPr id="12" name="Double Bracket 11">
            <a:extLst>
              <a:ext uri="{FF2B5EF4-FFF2-40B4-BE49-F238E27FC236}">
                <a16:creationId xmlns:a16="http://schemas.microsoft.com/office/drawing/2014/main" id="{3000CF70-6907-B847-E71B-21212FBA9B82}"/>
              </a:ext>
            </a:extLst>
          </p:cNvPr>
          <p:cNvSpPr/>
          <p:nvPr/>
        </p:nvSpPr>
        <p:spPr>
          <a:xfrm>
            <a:off x="6882677" y="2152359"/>
            <a:ext cx="4906297" cy="2573235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848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A64C12-B7E0-8D41-00F0-7F7F611BB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8" y="909637"/>
            <a:ext cx="6400800" cy="130759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Error covariance analysis</a:t>
            </a:r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E813B4C-6731-0B72-5252-A79AB0E20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906567-586C-4BC0-983E-2351A506C2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088" y="2221992"/>
            <a:ext cx="6400800" cy="3739896"/>
          </a:xfrm>
        </p:spPr>
        <p:txBody>
          <a:bodyPr>
            <a:normAutofit/>
          </a:bodyPr>
          <a:lstStyle/>
          <a:p>
            <a:r>
              <a:rPr lang="en-US" dirty="0"/>
              <a:t>Conclusion of Error</a:t>
            </a:r>
          </a:p>
          <a:p>
            <a:pPr lvl="1"/>
            <a:r>
              <a:rPr lang="en-US" dirty="0"/>
              <a:t>We see that the error is intense, the predicted far exceeded the actual(yield)</a:t>
            </a:r>
          </a:p>
          <a:p>
            <a:pPr lvl="2"/>
            <a:r>
              <a:rPr lang="en-US" dirty="0"/>
              <a:t>This can lead us to conclude that, the three variables or predictors (precipitation, temperature, and nitrogen) should in theory positively influence yield.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7" name="Graphic 6" descr="Forbidden">
            <a:extLst>
              <a:ext uri="{FF2B5EF4-FFF2-40B4-BE49-F238E27FC236}">
                <a16:creationId xmlns:a16="http://schemas.microsoft.com/office/drawing/2014/main" id="{2784F3A0-BC18-488C-CD68-250B6C999E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87920" y="2102261"/>
            <a:ext cx="3903980" cy="390398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0E8146-6E65-2E6C-0C86-547E3C925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09841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21E696-7C0C-610E-D524-26A717D4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8" y="909637"/>
            <a:ext cx="6400800" cy="130759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500" b="1" dirty="0"/>
              <a:t>Conclusion:</a:t>
            </a:r>
            <a:br>
              <a:rPr lang="en-US" sz="2500" dirty="0"/>
            </a:br>
            <a:r>
              <a:rPr lang="en-US" sz="2500" dirty="0"/>
              <a:t>The reality of the matter</a:t>
            </a:r>
            <a:br>
              <a:rPr lang="en-US" sz="2500" dirty="0"/>
            </a:br>
            <a:r>
              <a:rPr lang="en-US" sz="2500" dirty="0"/>
              <a:t>The lurking (confounding) variables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E813B4C-6731-0B72-5252-A79AB0E20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4D1256-6AEB-7F3B-68DB-52949FE842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088" y="2221992"/>
            <a:ext cx="6400800" cy="3739896"/>
          </a:xfrm>
        </p:spPr>
        <p:txBody>
          <a:bodyPr>
            <a:normAutofit/>
          </a:bodyPr>
          <a:lstStyle/>
          <a:p>
            <a:r>
              <a:rPr lang="en-US" dirty="0"/>
              <a:t>As mentioned previously, the survey reveals that there are financial and economical reasons that affects the yield of these crops, these are the lurking or confounding variables.</a:t>
            </a:r>
          </a:p>
          <a:p>
            <a:pPr lvl="1"/>
            <a:r>
              <a:rPr lang="en-US" dirty="0"/>
              <a:t>They caused distortion in the data.</a:t>
            </a:r>
          </a:p>
          <a:p>
            <a:pPr lvl="1"/>
            <a:r>
              <a:rPr lang="en-US" dirty="0"/>
              <a:t>The environmental factors alone does not determine the yield of crops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Graphic 6" descr="Error">
            <a:extLst>
              <a:ext uri="{FF2B5EF4-FFF2-40B4-BE49-F238E27FC236}">
                <a16:creationId xmlns:a16="http://schemas.microsoft.com/office/drawing/2014/main" id="{9AE4C81F-FDD6-05E0-3D35-620E37D753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87920" y="2102261"/>
            <a:ext cx="3903980" cy="3903980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E0E8146-6E65-2E6C-0C86-547E3C925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73839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33FC2-0CE6-287E-B709-EF6C90D8E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E5BE5F-269C-D4DC-3CCA-A360483A2A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Alexopoulos, E. C. (2010). Introduction to multivariate regression analysis. </a:t>
            </a:r>
            <a:r>
              <a:rPr lang="en-US" i="1" dirty="0"/>
              <a:t>Hippokratia,14</a:t>
            </a:r>
            <a:r>
              <a:rPr lang="en-US" dirty="0"/>
              <a:t>(Suppl 1), 23–28. </a:t>
            </a:r>
            <a:r>
              <a:rPr lang="en-US" u="sng" dirty="0">
                <a:hlinkClick r:id="rId2"/>
              </a:rPr>
              <a:t>https://pmc.ncbi.nlm.nih.gov/articles/PMC3049417/</a:t>
            </a:r>
            <a:endParaRPr lang="en-US" dirty="0"/>
          </a:p>
          <a:p>
            <a:r>
              <a:rPr lang="en-US" dirty="0"/>
              <a:t>Birchmier, K. (2026, March 29). Why corn and soybeans form a powerful tag team. </a:t>
            </a:r>
            <a:r>
              <a:rPr lang="en-US" i="1" dirty="0"/>
              <a:t>Farm Progress</a:t>
            </a:r>
            <a:r>
              <a:rPr lang="en-US" dirty="0"/>
              <a:t>. </a:t>
            </a:r>
            <a:r>
              <a:rPr lang="en-US" u="sng" dirty="0">
                <a:hlinkClick r:id="rId3"/>
              </a:rPr>
              <a:t>https://www.farmprogress.com/crops/why-corn-and-soybeans-form-a-powerful-tag-team</a:t>
            </a:r>
            <a:endParaRPr lang="en-US" dirty="0"/>
          </a:p>
          <a:p>
            <a:r>
              <a:rPr lang="en-US" dirty="0" err="1"/>
              <a:t>Orngard</a:t>
            </a:r>
            <a:r>
              <a:rPr lang="en-US" dirty="0"/>
              <a:t>, S. (2023, October 23). </a:t>
            </a:r>
            <a:r>
              <a:rPr lang="en-US" i="1" dirty="0"/>
              <a:t>A wealth of winter wheat</a:t>
            </a:r>
            <a:r>
              <a:rPr lang="en-US" dirty="0"/>
              <a:t>. Practical Farmers of Iowa. </a:t>
            </a:r>
            <a:r>
              <a:rPr lang="en-US" u="sng" dirty="0">
                <a:hlinkClick r:id="rId4"/>
              </a:rPr>
              <a:t>https://practicalfarmers.org/2023/10/a-wealth-of-winter-wheat/</a:t>
            </a:r>
            <a:endParaRPr lang="en-US" dirty="0"/>
          </a:p>
          <a:p>
            <a:r>
              <a:rPr lang="en-US" dirty="0"/>
              <a:t>White, J. (2026, April 8). </a:t>
            </a:r>
            <a:r>
              <a:rPr lang="en-US" i="1" dirty="0"/>
              <a:t>Diversifying the Corn Belt - Brownfield Ag News</a:t>
            </a:r>
            <a:r>
              <a:rPr lang="en-US" dirty="0"/>
              <a:t>. Brownfield Ag News. </a:t>
            </a:r>
            <a:r>
              <a:rPr lang="en-US" u="sng" dirty="0">
                <a:hlinkClick r:id="rId5"/>
              </a:rPr>
              <a:t>https://www.brownfieldagnews.com/news/diversifying-the-corn-belt/</a:t>
            </a:r>
            <a:endParaRPr lang="en-US" dirty="0"/>
          </a:p>
          <a:p>
            <a:r>
              <a:rPr lang="en-US" dirty="0"/>
              <a:t>Gordon Arbuckle Jr., J. (2025). </a:t>
            </a:r>
            <a:r>
              <a:rPr lang="en-US" i="1" dirty="0"/>
              <a:t>Farmers Challenged by Persistent “Cost-Price Squeeze” Dynamics</a:t>
            </a:r>
            <a:r>
              <a:rPr lang="en-US" dirty="0"/>
              <a:t>. News.</a:t>
            </a:r>
            <a:r>
              <a:rPr lang="en-US" u="sng" dirty="0">
                <a:hlinkClick r:id="rId6"/>
              </a:rPr>
              <a:t> https://www.extension.iastate.edu/news/farmers-challenged-persistent-cost-price-squeeze-dynamics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65930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5AFA7F7-FEC8-6695-4EEE-12BD6966B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 b="1"/>
              <a:t>Acknowledgments </a:t>
            </a:r>
            <a:endParaRPr lang="en-US" sz="4800"/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5E6EE8A8-BBD2-A3F3-6D84-CBDDF50A30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8828792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06950517"/>
      </p:ext>
    </p:extLst>
  </p:cSld>
  <p:clrMapOvr>
    <a:masterClrMapping/>
  </p:clrMapOvr>
  <p:transition spd="slow">
    <p:wip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EF92653-5D6D-47E6-8744-0DAF76E04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0CD6417-C40E-E596-858F-938C8D92D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2" y="960594"/>
            <a:ext cx="5828114" cy="49368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6000" dirty="0"/>
              <a:t>Questions?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CA98CE3-81A7-4FFE-A047-9AA65998D8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315200" y="1733549"/>
            <a:ext cx="0" cy="3390901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85189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EF92653-5D6D-47E6-8744-0DAF76E04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33F43A-EC6A-2DC9-2409-AF27FCE4D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2" y="960594"/>
            <a:ext cx="5828114" cy="49368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6000"/>
              <a:t>The End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CA98CE3-81A7-4FFE-A047-9AA65998D8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315200" y="1733549"/>
            <a:ext cx="0" cy="3390901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985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9214</TotalTime>
  <Words>2037</Words>
  <Application>Microsoft Office PowerPoint</Application>
  <PresentationFormat>Widescreen</PresentationFormat>
  <Paragraphs>561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Aptos Narrow</vt:lpstr>
      <vt:lpstr>Arial</vt:lpstr>
      <vt:lpstr>Bierstadt</vt:lpstr>
      <vt:lpstr>Calisto MT</vt:lpstr>
      <vt:lpstr>Univers Condensed</vt:lpstr>
      <vt:lpstr>ChronicleVTI</vt:lpstr>
      <vt:lpstr>A Multivariate Linear Model for Agricultural Data of Iowa for Corn, Soybeans, and Wheat</vt:lpstr>
      <vt:lpstr>Introduction/background</vt:lpstr>
      <vt:lpstr>Intro &amp; background cont’d </vt:lpstr>
      <vt:lpstr>Intro Cont’d Solving for predictors</vt:lpstr>
      <vt:lpstr>Introduction/Background cont’d Abstract: Application of the Concept</vt:lpstr>
      <vt:lpstr>Iowa as an agricultural powerhouse and The “powerful Tag Team” of Corn and Soybean</vt:lpstr>
      <vt:lpstr>Corn &amp; soybean cont’d yield from 2020-2025  (Six-Year period)</vt:lpstr>
      <vt:lpstr>Wheat production in iowa</vt:lpstr>
      <vt:lpstr>Six Year time Series of wheat yields in iowa 2013-2018</vt:lpstr>
      <vt:lpstr>Note</vt:lpstr>
      <vt:lpstr>Variable in our model</vt:lpstr>
      <vt:lpstr>Precipitaion Data in relation to corn &amp; Soybeans</vt:lpstr>
      <vt:lpstr>Temperature data in relation Corn &amp; Soybeans</vt:lpstr>
      <vt:lpstr>Nitrogen (Fertilizer) use for corn &amp; soybeans</vt:lpstr>
      <vt:lpstr>Quick Note</vt:lpstr>
      <vt:lpstr>The outcome(Multi-Crop yield) Matrix (Y) 2020-2025</vt:lpstr>
      <vt:lpstr>Predictor Matrix (environmental predictors) (x) 2020-2025</vt:lpstr>
      <vt:lpstr>Computing Y: The revenue 2020-2025</vt:lpstr>
      <vt:lpstr>Finding B (Coefficients) B=(XTX)-1Xty</vt:lpstr>
      <vt:lpstr>Finding B (Coefficients) Cont’d B=(XTX)-1Xty</vt:lpstr>
      <vt:lpstr>Finding B (Coefficients) Cont’d B=(XTX)-1Xty</vt:lpstr>
      <vt:lpstr>The coefficient B</vt:lpstr>
      <vt:lpstr>Finding E The Error</vt:lpstr>
      <vt:lpstr>Error Matrix</vt:lpstr>
      <vt:lpstr>Our Model Y=XB+E</vt:lpstr>
      <vt:lpstr>Error covariance analysis</vt:lpstr>
      <vt:lpstr>Conclusion: The reality of the matter The lurking (confounding) variables</vt:lpstr>
      <vt:lpstr>References</vt:lpstr>
      <vt:lpstr>Acknowledgments </vt:lpstr>
      <vt:lpstr>Questions?</vt:lpstr>
      <vt:lpstr>The 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Ayodeji Williams</dc:creator>
  <cp:lastModifiedBy>Ayodeji Williams</cp:lastModifiedBy>
  <cp:revision>2</cp:revision>
  <dcterms:created xsi:type="dcterms:W3CDTF">2026-04-09T18:13:05Z</dcterms:created>
  <dcterms:modified xsi:type="dcterms:W3CDTF">2026-04-16T20:55:43Z</dcterms:modified>
</cp:coreProperties>
</file>